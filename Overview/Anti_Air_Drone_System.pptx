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concept treats an anti-air drone system as a counter-unmanned-aircraft system, abbreviated C-UAS. The initial research scope is a stationary airspace monitoring platform that detects and tracks small drones and supports an operator's response. The course already lists this application, so the presentation connects the concept to its systems-design workflow. It proposes a bounded research test case rather than a completed product or a new dissertation commitment.</a:t>
            </a:r>
          </a:p>
          <a:p>
            <a:endParaRPr/>
          </a:p>
          <a:p>
            <a:r>
              <a:t>Course sources (PDF page numbers): L01 - Intro v2(3).pdf, pp. 4-7 and 13-15. L02_MBSE_1_L01_Part(2).pdf, p. 12. L04_Arch_Modeling.pdf, p. 5.</a:t>
            </a:r>
          </a:p>
          <a:p>
            <a:endParaRPr/>
          </a:p>
          <a:p>
            <a:r>
              <a:t>Artwork credit: AI-generated concept illustration. It does not depict a real product, experiment, or validated architecture.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lecture's broader C-UAS example includes detection, tracking, classification, and a response layer. Here, the concrete course scope stops at monitoring and operator alerts. An external authorized response is an interface in the architecture. The sensor list describes alternatives from the lecture, not a requirement to integrate every modality. The estimator maintains object state and uncertainty. The supervisor manages system modes and exposes faults. Power, timing, communication, and mechanical mounting connect the physical and computational components.</a:t>
            </a:r>
          </a:p>
          <a:p>
            <a:endParaRPr/>
          </a:p>
          <a:p>
            <a:r>
              <a:t>Course sources (PDF page numbers): L02_MBSE_1_L01_Part(2).pdf, p. 12, including sensor mix and system figures of merit. L04_Arch_Modeling.pdf, pp. 17-19 and 31. L05_L04_Arch_Modeling_2.pdf, pp. 12-16 and 24. The specific functional decomposition is a proposed application of these course ideas.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key course connection is the entire design process. L01 establishes why a CPS must connect physical dynamics and computation. L02 and L03 establish an authoritative model and traceability. L04 and L05 specify component composition and interfaces. L06 describes a design space using variables, domains, and constraints. L07 adds executable continuous and discrete behavior. L08 supports more detailed physical analysis. L09 combines discipline models into a consistent system-level evaluation before optimization.</a:t>
            </a:r>
          </a:p>
          <a:p>
            <a:endParaRPr/>
          </a:p>
          <a:p>
            <a:r>
              <a:t>Course sources (PDF page numbers):</a:t>
            </a:r>
          </a:p>
          <a:p>
            <a:r>
              <a:t>L01 - Intro v2(3).pdf, pp. 4-7 and 13-15.</a:t>
            </a:r>
          </a:p>
          <a:p>
            <a:r>
              <a:t>L02_MBSE_1_L01_Part(2).pdf, pp. 23, 28, 31 and 38.</a:t>
            </a:r>
          </a:p>
          <a:p>
            <a:r>
              <a:t>L03_MBSE_2_with_v2.pdf, pp. 6, 10, 13-15, 18-23 and 28.</a:t>
            </a:r>
          </a:p>
          <a:p>
            <a:r>
              <a:t>L04_Arch_Modeling.pdf, pp. 17-19 and 31.</a:t>
            </a:r>
          </a:p>
          <a:p>
            <a:r>
              <a:t>L05_L04_Arch_Modeling_2.pdf, pp. 7, 9, 12-16 and 24-25.</a:t>
            </a:r>
          </a:p>
          <a:p>
            <a:r>
              <a:t>L06_DSE.pdf, pp. 8-10, 14, 21 and 39.</a:t>
            </a:r>
          </a:p>
          <a:p>
            <a:r>
              <a:t>L07_Dynamics_Modeling.pdf, pp. 8-15, 20, 23-25 and 38.</a:t>
            </a:r>
          </a:p>
          <a:p>
            <a:r>
              <a:t>L08_Higher_Fidelity_Analysis.pdf, pp. 3-6, 14-15 and 21-22.</a:t>
            </a:r>
          </a:p>
          <a:p>
            <a:r>
              <a:t>L09_MDAO.pdf, pp. 4, 10-11, 14-18 and 24.</a:t>
            </a:r>
          </a:p>
          <a:p>
            <a:endParaRPr/>
          </a:p>
          <a:p>
            <a:r>
              <a:t>The right-hand column proposes how to apply the lecture methods. It does not report implemented results.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hybrid model combines a continuous state x with a discrete mode q. The equation shown is a generic representation, not a complete drone or monitoring-station dynamics model. Different physical subsystems can use different state variables and fidelity levels. Monitor, Confirm, Alert, and Degraded are illustrative supervisory modes. Guard conditions and transitions would become explicit in the system model. The sample requirement shows the MBSE link between a requirement, a component responsibility, and a verification test. Testing the software logic verifies implementation behavior. Comparing its physical predictions with independent observations provides validation. Noise and model mismatch should be distinguished in the uncertainty analysis.</a:t>
            </a:r>
          </a:p>
          <a:p>
            <a:endParaRPr/>
          </a:p>
          <a:p>
            <a:r>
              <a:t>Course sources (PDF page numbers): L03_MBSE_2_with_v2.pdf, pp. 10, 18-22 and 28. L07_Dynamics_Modeling.pdf, pp. 13-15 and 23-25. Requirement, modes, and test are proposed examples.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Design-space exploration identifies admissible choices and filters combinations that violate interface or resource constraints. MDAO matters when the analysis models share variables and their predictions must agree. For this stationary platform, a useful bounded analysis can connect electronics power dissipation, enclosure temperature, and structural or modal behavior of the sensor mount. A design-structure matrix can document the actual couplings. Iterate the coupled models where feedback exists. A surrogate can reduce the cost of screening candidate designs, but its predictions need held-out validation and final physics confirmation. These are proposed design relationships and objectives, not measured performance claims. CFD becomes relevant only if an aerodynamic question or a different platform scope warrants it.</a:t>
            </a:r>
          </a:p>
          <a:p>
            <a:endParaRPr/>
          </a:p>
          <a:p>
            <a:r>
              <a:t>Course sources (PDF page numbers): L06_DSE.pdf, pp. 8-10, 21 and 39. L08_Higher_Fidelity_Analysis.pdf, pp. 3-6, 14-15 and 21-22. L09_MDAO.pdf, pp. 10-18, 24 and 27. L07_Dynamics_Modeling.pdf, pp. 23-25. Computing-to-heat and mounting-to-measurement examples are proposed system couplings.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direct connection is methodological. Surgical robotics and an aerial monitoring system both motivate estimation, coordinate calibration, uncertainty analysis, and supervision of a physical process. My mathematics and ECE background supports modeling and algorithms, while mechanical engineering adds physical design and validation. The aerospace connection is an aerial CPS application. It can provide experience relevant to later space-system work, but orbital mechanics introduces different physics and mission requirements. The friction-stir-welding connection is indirect: the model integration, surrogate, optimization, and validation workflow can later apply to thermal, structural, and manufacturing problems. A counter-drone monitoring project need not replace the physical research direction.</a:t>
            </a:r>
          </a:p>
          <a:p>
            <a:endParaRPr/>
          </a:p>
          <a:p>
            <a:r>
              <a:t>Research basis: Blaine's stated interests in intelligent surgical robotics, AI for physical experiments, controls, friction stir welding, and aerospace/space systems. These are proposed connections rather than advisor-approved research commitments.</a:t>
            </a:r>
          </a:p>
          <a:p>
            <a:endParaRPr/>
          </a:p>
          <a:p>
            <a:r>
              <a:t>Course sources (PDF page numbers): L01 - Intro v2(3).pdf, pp. 4-7, 13-15 and 24. L05_L04_Arch_Modeling_2.pdf, pp. 12-16. L07_Dynamics_Modeling.pdf, pp. 23-27. L09_MDAO.pdf, pp. 4, 10 and 19.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manageable project begins with one stationary monitoring station and one parameterized sensor-mount family. Build a system model that links architecture, requirements, and test cases. Use thermal and structural or modal simulations to evaluate candidate physical designs. Compare direct simulation-based evaluation with a surrogate-assisted workflow under the same scenario set and computational budget. Keep a separate test set of designs, report prediction error near constraint boundaries, and confirm selected designs with the physics models. Record simulation calls, wall time, constraint violations, and feasibility agreement. A faster workflow is useful only if it preserves adequate confidence in the design decisions. Experimental validation can be a later research extension.</a:t>
            </a:r>
          </a:p>
          <a:p>
            <a:endParaRPr/>
          </a:p>
          <a:p>
            <a:r>
              <a:t>An optional physics-guided surrogate could use known physical relations or meaningful intermediate quantities as discussed in L01. The starting proposal does not require a PINN. No speedup, accuracy, or publication outcome is assumed.</a:t>
            </a:r>
          </a:p>
          <a:p>
            <a:endParaRPr/>
          </a:p>
          <a:p>
            <a:r>
              <a:t>Course sources (PDF page numbers): L01 - Intro v2(3).pdf, pp. 23-24. L04_Arch_Modeling.pdf, pp. 4-5 and 19. L06_DSE.pdf, pp. 21 and 39. L07_Dynamics_Modeling.pdf, pp. 23-25. L08_Higher_Fidelity_Analysis.pdf, pp. 14-15 and 21-22. L09_MDAO.pdf, pp. 18, 24-27 and 30-31. The research question and project scope are proposed for discussion.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0FA17B65-9F96-4486-B57E-CAD9C3E0807F}"/>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8E4BFBA4-D57D-41E3-8C9A-E8A8E16F30DF}"/>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BAF77A21-2DBF-483F-A30D-48381A5A9E75}"/>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1C8AFB5A-0B3F-4846-94B4-518C6BF2409A}"/>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D20B2AD5-8CDC-46A5-BAF6-1A97A2071A6C}"/>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0297DE1B-3D0E-473C-8928-0B9972E1F1E5}"/>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760546BE-7532-4590-B1B2-3C615A4DF891}"/>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688D5EB6-2602-4993-B284-24F3E121221C}"/>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5D13BD56-2817-4D5A-A846-8C1415B6EDF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22B60CF6-9EA3-4327-B06F-9DACEC137BD1}"/>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234"/>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3672F82-2970-4270-AB0C-7772565986E2}"/>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cover-title">
            <a:extLst>
              <a:ext uri="{FF2B5EF4-FFF2-40B4-BE49-F238E27FC236}">
                <a16:creationId xmlns:a16="http://schemas.microsoft.com/office/drawing/2014/main" id="{CDFC21D7-82B8-42FE-8219-F46065DD77B9}"/>
              </a:ext>
            </a:extLst>
          </p:cNvPr>
          <p:cNvSpPr>
            <a:spLocks noGrp="1"/>
          </p:cNvSpPr>
          <p:nvPr/>
        </p:nvSpPr>
        <p:spPr>
          <a:xfrm>
            <a:off x="685800" y="1866900"/>
            <a:ext cx="6096000" cy="1600200"/>
          </a:xfrm>
          <a:prstGeom prst="rect">
            <a:avLst/>
          </a:prstGeom>
          <a:noFill/>
          <a:ln w="0">
            <a:noFill/>
          </a:ln>
        </p:spPr>
        <p:txBody>
          <a:bodyPr wrap="square" lIns="0" tIns="0" rIns="0" bIns="0" anchor="t">
            <a:noAutofit/>
          </a:bodyPr>
          <a:lstStyle>
            <a:defPPr algn="l">
              <a:defRPr sz="4800" b="1">
                <a:solidFill>
                  <a:srgbClr val="FFFFFF"/>
                </a:solidFill>
                <a:latin typeface="DejaVu Sans"/>
                <a:ea typeface="DejaVu Sans"/>
                <a:cs typeface="DejaVu Sans"/>
              </a:defRPr>
            </a:defPPr>
          </a:lstStyle>
          <a:p>
            <a:pPr algn="l">
              <a:defRPr sz="4800" b="1">
                <a:solidFill>
                  <a:srgbClr val="FFFFFF"/>
                </a:solidFill>
                <a:latin typeface="DejaVu Sans"/>
                <a:ea typeface="DejaVu Sans"/>
                <a:cs typeface="DejaVu Sans"/>
              </a:defRPr>
            </a:pPr>
            <a:r>
              <a:rPr sz="4800" b="1">
                <a:solidFill>
                  <a:srgbClr val="FFFFFF"/>
                </a:solidFill>
                <a:latin typeface="DejaVu Sans"/>
                <a:ea typeface="DejaVu Sans"/>
                <a:cs typeface="DejaVu Sans"/>
              </a:rPr>
              <a:t>Anti-Air</a:t>
            </a:r>
          </a:p>
          <a:p>
            <a:pPr algn="l">
              <a:defRPr sz="4800" b="1">
                <a:solidFill>
                  <a:srgbClr val="FFFFFF"/>
                </a:solidFill>
                <a:latin typeface="DejaVu Sans"/>
                <a:ea typeface="DejaVu Sans"/>
                <a:cs typeface="DejaVu Sans"/>
              </a:defRPr>
            </a:pPr>
            <a:r>
              <a:rPr sz="4800" b="1">
                <a:solidFill>
                  <a:srgbClr val="FFFFFF"/>
                </a:solidFill>
                <a:latin typeface="DejaVu Sans"/>
                <a:ea typeface="DejaVu Sans"/>
                <a:cs typeface="DejaVu Sans"/>
              </a:rPr>
              <a:t>Drone System</a:t>
            </a:r>
          </a:p>
        </p:txBody>
      </p:sp>
      <p:sp>
        <p:nvSpPr>
          <p:cNvPr id="3" name="cover-subtitle">
            <a:extLst>
              <a:ext uri="{FF2B5EF4-FFF2-40B4-BE49-F238E27FC236}">
                <a16:creationId xmlns:a16="http://schemas.microsoft.com/office/drawing/2014/main" id="{A18EFDBC-FECE-4982-916D-0C99BF9A76CB}"/>
              </a:ext>
            </a:extLst>
          </p:cNvPr>
          <p:cNvSpPr>
            <a:spLocks noGrp="1"/>
          </p:cNvSpPr>
          <p:nvPr/>
        </p:nvSpPr>
        <p:spPr>
          <a:xfrm>
            <a:off x="685800" y="3781425"/>
            <a:ext cx="6191250" cy="914400"/>
          </a:xfrm>
          <a:prstGeom prst="rect">
            <a:avLst/>
          </a:prstGeom>
          <a:noFill/>
          <a:ln w="0">
            <a:noFill/>
          </a:ln>
        </p:spPr>
        <p:txBody>
          <a:bodyPr wrap="square" lIns="0" tIns="0" rIns="0" bIns="0" anchor="t">
            <a:noAutofit/>
          </a:bodyPr>
          <a:lstStyle>
            <a:defPPr algn="l">
              <a:defRPr sz="2250" b="0">
                <a:solidFill>
                  <a:srgbClr val="D6E2E6"/>
                </a:solidFill>
                <a:latin typeface="DejaVu Sans"/>
                <a:ea typeface="DejaVu Sans"/>
                <a:cs typeface="DejaVu Sans"/>
              </a:defRPr>
            </a:defPPr>
          </a:lstStyle>
          <a:p>
            <a:pPr algn="l">
              <a:defRPr sz="2250" b="0">
                <a:solidFill>
                  <a:srgbClr val="D6E2E6"/>
                </a:solidFill>
                <a:latin typeface="DejaVu Sans"/>
                <a:ea typeface="DejaVu Sans"/>
                <a:cs typeface="DejaVu Sans"/>
              </a:defRPr>
            </a:pPr>
            <a:r>
              <a:rPr sz="2250" b="0">
                <a:solidFill>
                  <a:srgbClr val="D6E2E6"/>
                </a:solidFill>
                <a:latin typeface="DejaVu Sans"/>
                <a:ea typeface="DejaVu Sans"/>
                <a:cs typeface="DejaVu Sans"/>
              </a:rPr>
              <a:t>Counter-UAS concept for</a:t>
            </a:r>
          </a:p>
          <a:p>
            <a:pPr algn="l">
              <a:defRPr sz="2250" b="0">
                <a:solidFill>
                  <a:srgbClr val="D6E2E6"/>
                </a:solidFill>
                <a:latin typeface="DejaVu Sans"/>
                <a:ea typeface="DejaVu Sans"/>
                <a:cs typeface="DejaVu Sans"/>
              </a:defRPr>
            </a:pPr>
            <a:r>
              <a:rPr sz="2250" b="0">
                <a:solidFill>
                  <a:srgbClr val="D6E2E6"/>
                </a:solidFill>
                <a:latin typeface="DejaVu Sans"/>
                <a:ea typeface="DejaVu Sans"/>
                <a:cs typeface="DejaVu Sans"/>
              </a:rPr>
              <a:t>AI-assisted CPS design</a:t>
            </a:r>
          </a:p>
        </p:txBody>
      </p:sp>
      <p:sp>
        <p:nvSpPr>
          <p:cNvPr id="4" name="presenter">
            <a:extLst>
              <a:ext uri="{FF2B5EF4-FFF2-40B4-BE49-F238E27FC236}">
                <a16:creationId xmlns:a16="http://schemas.microsoft.com/office/drawing/2014/main" id="{F64DECD7-7F6C-4E63-92BC-95F023B2EFDB}"/>
              </a:ext>
            </a:extLst>
          </p:cNvPr>
          <p:cNvSpPr>
            <a:spLocks noGrp="1"/>
          </p:cNvSpPr>
          <p:nvPr/>
        </p:nvSpPr>
        <p:spPr>
          <a:xfrm>
            <a:off x="685800" y="5591175"/>
            <a:ext cx="5619750" cy="381000"/>
          </a:xfrm>
          <a:prstGeom prst="rect">
            <a:avLst/>
          </a:prstGeom>
          <a:noFill/>
          <a:ln w="0">
            <a:noFill/>
          </a:ln>
        </p:spPr>
        <p:txBody>
          <a:bodyPr wrap="square" lIns="0" tIns="0" rIns="0" bIns="0" anchor="t">
            <a:noAutofit/>
          </a:bodyPr>
          <a:lstStyle>
            <a:defPPr algn="l">
              <a:defRPr sz="1875" b="1">
                <a:solidFill>
                  <a:srgbClr val="D4B977"/>
                </a:solidFill>
                <a:latin typeface="DejaVu Sans"/>
                <a:ea typeface="DejaVu Sans"/>
                <a:cs typeface="DejaVu Sans"/>
              </a:defRPr>
            </a:defPPr>
          </a:lstStyle>
          <a:p>
            <a:pPr algn="l">
              <a:defRPr sz="1875" b="1">
                <a:solidFill>
                  <a:srgbClr val="D4B977"/>
                </a:solidFill>
                <a:latin typeface="DejaVu Sans"/>
                <a:ea typeface="DejaVu Sans"/>
                <a:cs typeface="DejaVu Sans"/>
              </a:defRPr>
            </a:pPr>
            <a:r>
              <a:rPr sz="1875" b="1">
                <a:solidFill>
                  <a:srgbClr val="D4B977"/>
                </a:solidFill>
                <a:latin typeface="DejaVu Sans"/>
                <a:ea typeface="DejaVu Sans"/>
                <a:cs typeface="DejaVu Sans"/>
              </a:rPr>
              <a:t>Blaine Swieder</a:t>
            </a:r>
          </a:p>
        </p:txBody>
      </p:sp>
      <p:sp>
        <p:nvSpPr>
          <p:cNvPr id="5" name="course">
            <a:extLst>
              <a:ext uri="{FF2B5EF4-FFF2-40B4-BE49-F238E27FC236}">
                <a16:creationId xmlns:a16="http://schemas.microsoft.com/office/drawing/2014/main" id="{206A9499-72FB-4D8F-8D53-0779442D584B}"/>
              </a:ext>
            </a:extLst>
          </p:cNvPr>
          <p:cNvSpPr>
            <a:spLocks noGrp="1"/>
          </p:cNvSpPr>
          <p:nvPr/>
        </p:nvSpPr>
        <p:spPr>
          <a:xfrm>
            <a:off x="685800" y="6038850"/>
            <a:ext cx="6191250" cy="323850"/>
          </a:xfrm>
          <a:prstGeom prst="rect">
            <a:avLst/>
          </a:prstGeom>
          <a:noFill/>
          <a:ln w="0">
            <a:noFill/>
          </a:ln>
        </p:spPr>
        <p:txBody>
          <a:bodyPr wrap="square" lIns="0" tIns="0" rIns="0" bIns="0" anchor="t">
            <a:noAutofit/>
          </a:bodyPr>
          <a:lstStyle>
            <a:defPPr algn="l">
              <a:defRPr sz="1575" b="0">
                <a:solidFill>
                  <a:srgbClr val="BCCDD4"/>
                </a:solidFill>
                <a:latin typeface="DejaVu Sans"/>
                <a:ea typeface="DejaVu Sans"/>
                <a:cs typeface="DejaVu Sans"/>
              </a:defRPr>
            </a:defPPr>
          </a:lstStyle>
          <a:p>
            <a:pPr algn="l">
              <a:defRPr sz="1575" b="0">
                <a:solidFill>
                  <a:srgbClr val="BCCDD4"/>
                </a:solidFill>
                <a:latin typeface="DejaVu Sans"/>
                <a:ea typeface="DejaVu Sans"/>
                <a:cs typeface="DejaVu Sans"/>
              </a:defRPr>
            </a:pPr>
            <a:r>
              <a:rPr sz="1575" b="0">
                <a:solidFill>
                  <a:srgbClr val="BCCDD4"/>
                </a:solidFill>
                <a:latin typeface="DejaVu Sans"/>
                <a:ea typeface="DejaVu Sans"/>
                <a:cs typeface="DejaVu Sans"/>
              </a:rPr>
              <a:t>CS8395-04: AI-assisted Design of CPS</a:t>
            </a:r>
          </a:p>
        </p:txBody>
      </p:sp>
    </p:spTree>
    <p:extLst>
      <p:ext uri="{BB962C8B-B14F-4D97-AF65-F5344CB8AC3E}">
        <p14:creationId xmlns:p14="http://schemas.microsoft.com/office/powerpoint/2010/main" val="17311791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18" name="slide-title">
            <a:extLst>
              <a:ext uri="{FF2B5EF4-FFF2-40B4-BE49-F238E27FC236}">
                <a16:creationId xmlns:a16="http://schemas.microsoft.com/office/drawing/2014/main" id="{437DCD4C-C440-4B89-912A-16ECED99A225}"/>
              </a:ext>
            </a:extLst>
          </p:cNvPr>
          <p:cNvSpPr>
            <a:spLocks noGrp="1"/>
          </p:cNvSpPr>
          <p:nvPr/>
        </p:nvSpPr>
        <p:spPr>
          <a:xfrm>
            <a:off x="685800" y="495300"/>
            <a:ext cx="10820400" cy="685800"/>
          </a:xfrm>
          <a:prstGeom prst="rect">
            <a:avLst/>
          </a:prstGeom>
          <a:noFill/>
          <a:ln w="0">
            <a:noFill/>
          </a:ln>
        </p:spPr>
        <p:txBody>
          <a:bodyPr wrap="square" lIns="0" tIns="0" rIns="0" bIns="0" anchor="t">
            <a:noAutofit/>
          </a:bodyPr>
          <a:lstStyle>
            <a:defPPr algn="l">
              <a:defRPr sz="3450" b="1">
                <a:solidFill>
                  <a:srgbClr val="102234"/>
                </a:solidFill>
                <a:latin typeface="DejaVu Sans"/>
                <a:ea typeface="DejaVu Sans"/>
                <a:cs typeface="DejaVu Sans"/>
              </a:defRPr>
            </a:defPPr>
          </a:lstStyle>
          <a:p>
            <a:pPr algn="l">
              <a:defRPr sz="3450" b="1">
                <a:solidFill>
                  <a:srgbClr val="102234"/>
                </a:solidFill>
                <a:latin typeface="DejaVu Sans"/>
                <a:ea typeface="DejaVu Sans"/>
                <a:cs typeface="DejaVu Sans"/>
              </a:defRPr>
            </a:pPr>
            <a:r>
              <a:rPr sz="3450" b="1">
                <a:solidFill>
                  <a:srgbClr val="102234"/>
                </a:solidFill>
                <a:latin typeface="DejaVu Sans"/>
                <a:ea typeface="DejaVu Sans"/>
                <a:cs typeface="DejaVu Sans"/>
              </a:rPr>
              <a:t>Counter-drone system concept</a:t>
            </a:r>
          </a:p>
        </p:txBody>
      </p:sp>
      <p:sp>
        <p:nvSpPr>
          <p:cNvPr id="2" name="subtitle">
            <a:extLst>
              <a:ext uri="{FF2B5EF4-FFF2-40B4-BE49-F238E27FC236}">
                <a16:creationId xmlns:a16="http://schemas.microsoft.com/office/drawing/2014/main" id="{AB1674F9-C5A2-46FB-B56C-FF87D0D44D16}"/>
              </a:ext>
            </a:extLst>
          </p:cNvPr>
          <p:cNvSpPr>
            <a:spLocks noGrp="1"/>
          </p:cNvSpPr>
          <p:nvPr/>
        </p:nvSpPr>
        <p:spPr>
          <a:xfrm>
            <a:off x="685800" y="1257300"/>
            <a:ext cx="10820400" cy="590550"/>
          </a:xfrm>
          <a:prstGeom prst="rect">
            <a:avLst/>
          </a:prstGeom>
          <a:noFill/>
          <a:ln w="0">
            <a:noFill/>
          </a:ln>
        </p:spPr>
        <p:txBody>
          <a:bodyPr wrap="square" lIns="0" tIns="0" rIns="0" bIns="0" anchor="t">
            <a:noAutofit/>
          </a:bodyPr>
          <a:lstStyle>
            <a:defPPr algn="l">
              <a:defRPr sz="1800" b="0">
                <a:solidFill>
                  <a:srgbClr val="5A6B76"/>
                </a:solidFill>
                <a:latin typeface="DejaVu Sans"/>
                <a:ea typeface="DejaVu Sans"/>
                <a:cs typeface="DejaVu Sans"/>
              </a:defRPr>
            </a:defPPr>
          </a:lstStyle>
          <a:p>
            <a:pPr algn="l">
              <a:defRPr sz="1800" b="0">
                <a:solidFill>
                  <a:srgbClr val="5A6B76"/>
                </a:solidFill>
                <a:latin typeface="DejaVu Sans"/>
                <a:ea typeface="DejaVu Sans"/>
                <a:cs typeface="DejaVu Sans"/>
              </a:defRPr>
            </a:pPr>
            <a:r>
              <a:rPr sz="1800" b="0">
                <a:solidFill>
                  <a:srgbClr val="5A6B76"/>
                </a:solidFill>
                <a:latin typeface="DejaVu Sans"/>
                <a:ea typeface="DejaVu Sans"/>
                <a:cs typeface="DejaVu Sans"/>
              </a:rPr>
              <a:t>An airspace protection system connects drone sensing to a human-supervised response.</a:t>
            </a:r>
          </a:p>
        </p:txBody>
      </p:sp>
      <p:sp>
        <p:nvSpPr>
          <p:cNvPr id="3" name="page-number">
            <a:extLst>
              <a:ext uri="{FF2B5EF4-FFF2-40B4-BE49-F238E27FC236}">
                <a16:creationId xmlns:a16="http://schemas.microsoft.com/office/drawing/2014/main" id="{134AD641-2CEA-4D9A-A31C-BFBAED39FC3C}"/>
              </a:ext>
            </a:extLst>
          </p:cNvPr>
          <p:cNvSpPr>
            <a:spLocks noGrp="1"/>
          </p:cNvSpPr>
          <p:nvPr/>
        </p:nvSpPr>
        <p:spPr>
          <a:xfrm>
            <a:off x="11029950" y="6286500"/>
            <a:ext cx="476250" cy="209550"/>
          </a:xfrm>
          <a:prstGeom prst="rect">
            <a:avLst/>
          </a:prstGeom>
          <a:noFill/>
          <a:ln w="0">
            <a:noFill/>
          </a:ln>
        </p:spPr>
        <p:txBody>
          <a:bodyPr wrap="square" lIns="0" tIns="0" rIns="0" bIns="0" anchor="t">
            <a:noAutofit/>
          </a:bodyPr>
          <a:lstStyle>
            <a:defPPr algn="r">
              <a:defRPr sz="1200" b="0">
                <a:solidFill>
                  <a:srgbClr val="5A6B76"/>
                </a:solidFill>
                <a:latin typeface="DejaVu Sans"/>
                <a:ea typeface="DejaVu Sans"/>
                <a:cs typeface="DejaVu Sans"/>
              </a:defRPr>
            </a:defPPr>
          </a:lstStyle>
          <a:p>
            <a:pPr algn="r">
              <a:defRPr sz="1200" b="0">
                <a:solidFill>
                  <a:srgbClr val="5A6B76"/>
                </a:solidFill>
                <a:latin typeface="DejaVu Sans"/>
                <a:ea typeface="DejaVu Sans"/>
                <a:cs typeface="DejaVu Sans"/>
              </a:defRPr>
            </a:pPr>
            <a:r>
              <a:rPr sz="1200" b="0">
                <a:solidFill>
                  <a:srgbClr val="5A6B76"/>
                </a:solidFill>
                <a:latin typeface="DejaVu Sans"/>
                <a:ea typeface="DejaVu Sans"/>
                <a:cs typeface="DejaVu Sans"/>
              </a:rPr>
              <a:t>02</a:t>
            </a:r>
          </a:p>
        </p:txBody>
      </p:sp>
      <p:sp>
        <p:nvSpPr>
          <p:cNvPr id="4" name="function-0-number">
            <a:extLst>
              <a:ext uri="{FF2B5EF4-FFF2-40B4-BE49-F238E27FC236}">
                <a16:creationId xmlns:a16="http://schemas.microsoft.com/office/drawing/2014/main" id="{73B91DF0-A271-4393-ADB6-2569C58562BC}"/>
              </a:ext>
            </a:extLst>
          </p:cNvPr>
          <p:cNvSpPr>
            <a:spLocks noGrp="1"/>
          </p:cNvSpPr>
          <p:nvPr/>
        </p:nvSpPr>
        <p:spPr>
          <a:xfrm>
            <a:off x="685800" y="2447925"/>
            <a:ext cx="428625" cy="342900"/>
          </a:xfrm>
          <a:prstGeom prst="rect">
            <a:avLst/>
          </a:prstGeom>
          <a:noFill/>
          <a:ln w="0">
            <a:noFill/>
          </a:ln>
        </p:spPr>
        <p:txBody>
          <a:bodyPr wrap="square" lIns="0" tIns="0" rIns="0" bIns="0" anchor="t">
            <a:noAutofit/>
          </a:bodyPr>
          <a:lstStyle>
            <a:defPPr algn="l">
              <a:defRPr sz="1800" b="1">
                <a:solidFill>
                  <a:srgbClr val="126E73"/>
                </a:solidFill>
                <a:latin typeface="DejaVu Sans"/>
                <a:ea typeface="DejaVu Sans"/>
                <a:cs typeface="DejaVu Sans"/>
              </a:defRPr>
            </a:defPPr>
          </a:lstStyle>
          <a:p>
            <a:pPr algn="l">
              <a:defRPr sz="1800" b="1">
                <a:solidFill>
                  <a:srgbClr val="126E73"/>
                </a:solidFill>
                <a:latin typeface="DejaVu Sans"/>
                <a:ea typeface="DejaVu Sans"/>
                <a:cs typeface="DejaVu Sans"/>
              </a:defRPr>
            </a:pPr>
            <a:r>
              <a:rPr sz="1800" b="1">
                <a:solidFill>
                  <a:srgbClr val="126E73"/>
                </a:solidFill>
                <a:latin typeface="DejaVu Sans"/>
                <a:ea typeface="DejaVu Sans"/>
                <a:cs typeface="DejaVu Sans"/>
              </a:rPr>
              <a:t>01</a:t>
            </a:r>
          </a:p>
        </p:txBody>
      </p:sp>
      <p:sp>
        <p:nvSpPr>
          <p:cNvPr id="5" name="function-0-name">
            <a:extLst>
              <a:ext uri="{FF2B5EF4-FFF2-40B4-BE49-F238E27FC236}">
                <a16:creationId xmlns:a16="http://schemas.microsoft.com/office/drawing/2014/main" id="{5F943840-1823-41B2-BAA2-78066E75496F}"/>
              </a:ext>
            </a:extLst>
          </p:cNvPr>
          <p:cNvSpPr>
            <a:spLocks noGrp="1"/>
          </p:cNvSpPr>
          <p:nvPr/>
        </p:nvSpPr>
        <p:spPr>
          <a:xfrm>
            <a:off x="1352550" y="2400300"/>
            <a:ext cx="2152650" cy="438150"/>
          </a:xfrm>
          <a:prstGeom prst="rect">
            <a:avLst/>
          </a:prstGeom>
          <a:noFill/>
          <a:ln w="0">
            <a:noFill/>
          </a:ln>
        </p:spPr>
        <p:txBody>
          <a:bodyPr wrap="square" lIns="0" tIns="0" rIns="0" bIns="0" anchor="t">
            <a:noAutofit/>
          </a:bodyPr>
          <a:lstStyle>
            <a:defPPr algn="l">
              <a:defRPr sz="2250" b="1">
                <a:solidFill>
                  <a:srgbClr val="102234"/>
                </a:solidFill>
                <a:latin typeface="DejaVu Sans"/>
                <a:ea typeface="DejaVu Sans"/>
                <a:cs typeface="DejaVu Sans"/>
              </a:defRPr>
            </a:defPPr>
          </a:lstStyle>
          <a:p>
            <a:pPr algn="l">
              <a:defRPr sz="2250" b="1">
                <a:solidFill>
                  <a:srgbClr val="102234"/>
                </a:solidFill>
                <a:latin typeface="DejaVu Sans"/>
                <a:ea typeface="DejaVu Sans"/>
                <a:cs typeface="DejaVu Sans"/>
              </a:defRPr>
            </a:pPr>
            <a:r>
              <a:rPr sz="2250" b="1">
                <a:solidFill>
                  <a:srgbClr val="102234"/>
                </a:solidFill>
                <a:latin typeface="DejaVu Sans"/>
                <a:ea typeface="DejaVu Sans"/>
                <a:cs typeface="DejaVu Sans"/>
              </a:rPr>
              <a:t>Sense</a:t>
            </a:r>
          </a:p>
        </p:txBody>
      </p:sp>
      <p:sp>
        <p:nvSpPr>
          <p:cNvPr id="6" name="function-0-description">
            <a:extLst>
              <a:ext uri="{FF2B5EF4-FFF2-40B4-BE49-F238E27FC236}">
                <a16:creationId xmlns:a16="http://schemas.microsoft.com/office/drawing/2014/main" id="{F723A761-FAEF-4338-80BB-4C903A22022E}"/>
              </a:ext>
            </a:extLst>
          </p:cNvPr>
          <p:cNvSpPr>
            <a:spLocks noGrp="1"/>
          </p:cNvSpPr>
          <p:nvPr/>
        </p:nvSpPr>
        <p:spPr>
          <a:xfrm>
            <a:off x="3667125" y="2428875"/>
            <a:ext cx="7839075" cy="609600"/>
          </a:xfrm>
          <a:prstGeom prst="rect">
            <a:avLst/>
          </a:prstGeom>
          <a:noFill/>
          <a:ln w="0">
            <a:noFill/>
          </a:ln>
        </p:spPr>
        <p:txBody>
          <a:bodyPr wrap="square" lIns="0" tIns="0" rIns="0" bIns="0" anchor="t">
            <a:noAutofit/>
          </a:bodyPr>
          <a:lstStyle>
            <a:defPPr algn="l">
              <a:defRPr sz="1875" b="0">
                <a:solidFill>
                  <a:srgbClr val="172F41"/>
                </a:solidFill>
                <a:latin typeface="DejaVu Sans"/>
                <a:ea typeface="DejaVu Sans"/>
                <a:cs typeface="DejaVu Sans"/>
              </a:defRPr>
            </a:defPPr>
          </a:lstStyle>
          <a:p>
            <a:pPr algn="l">
              <a:defRPr sz="1875" b="0">
                <a:solidFill>
                  <a:srgbClr val="172F41"/>
                </a:solidFill>
                <a:latin typeface="DejaVu Sans"/>
                <a:ea typeface="DejaVu Sans"/>
                <a:cs typeface="DejaVu Sans"/>
              </a:defRPr>
            </a:pPr>
            <a:r>
              <a:rPr sz="1875" b="0">
                <a:solidFill>
                  <a:srgbClr val="172F41"/>
                </a:solidFill>
                <a:latin typeface="DejaVu Sans"/>
                <a:ea typeface="DejaVu Sans"/>
                <a:cs typeface="DejaVu Sans"/>
              </a:rPr>
              <a:t>Radar, passive RF, cameras / infrared, or acoustic sensors</a:t>
            </a:r>
          </a:p>
        </p:txBody>
      </p:sp>
      <p:sp>
        <p:nvSpPr>
          <p:cNvPr id="7" name="function-1-number">
            <a:extLst>
              <a:ext uri="{FF2B5EF4-FFF2-40B4-BE49-F238E27FC236}">
                <a16:creationId xmlns:a16="http://schemas.microsoft.com/office/drawing/2014/main" id="{B9E0C951-C852-47D6-AD4A-BB2B4D4FC1E1}"/>
              </a:ext>
            </a:extLst>
          </p:cNvPr>
          <p:cNvSpPr>
            <a:spLocks noGrp="1"/>
          </p:cNvSpPr>
          <p:nvPr/>
        </p:nvSpPr>
        <p:spPr>
          <a:xfrm>
            <a:off x="685800" y="3228975"/>
            <a:ext cx="428625" cy="342900"/>
          </a:xfrm>
          <a:prstGeom prst="rect">
            <a:avLst/>
          </a:prstGeom>
          <a:noFill/>
          <a:ln w="0">
            <a:noFill/>
          </a:ln>
        </p:spPr>
        <p:txBody>
          <a:bodyPr wrap="square" lIns="0" tIns="0" rIns="0" bIns="0" anchor="t">
            <a:noAutofit/>
          </a:bodyPr>
          <a:lstStyle>
            <a:defPPr algn="l">
              <a:defRPr sz="1800" b="1">
                <a:solidFill>
                  <a:srgbClr val="126E73"/>
                </a:solidFill>
                <a:latin typeface="DejaVu Sans"/>
                <a:ea typeface="DejaVu Sans"/>
                <a:cs typeface="DejaVu Sans"/>
              </a:defRPr>
            </a:defPPr>
          </a:lstStyle>
          <a:p>
            <a:pPr algn="l">
              <a:defRPr sz="1800" b="1">
                <a:solidFill>
                  <a:srgbClr val="126E73"/>
                </a:solidFill>
                <a:latin typeface="DejaVu Sans"/>
                <a:ea typeface="DejaVu Sans"/>
                <a:cs typeface="DejaVu Sans"/>
              </a:defRPr>
            </a:pPr>
            <a:r>
              <a:rPr sz="1800" b="1">
                <a:solidFill>
                  <a:srgbClr val="126E73"/>
                </a:solidFill>
                <a:latin typeface="DejaVu Sans"/>
                <a:ea typeface="DejaVu Sans"/>
                <a:cs typeface="DejaVu Sans"/>
              </a:rPr>
              <a:t>02</a:t>
            </a:r>
          </a:p>
        </p:txBody>
      </p:sp>
      <p:sp>
        <p:nvSpPr>
          <p:cNvPr id="8" name="function-1-name">
            <a:extLst>
              <a:ext uri="{FF2B5EF4-FFF2-40B4-BE49-F238E27FC236}">
                <a16:creationId xmlns:a16="http://schemas.microsoft.com/office/drawing/2014/main" id="{0FEE76AB-4797-4807-82CC-36834EC9BF21}"/>
              </a:ext>
            </a:extLst>
          </p:cNvPr>
          <p:cNvSpPr>
            <a:spLocks noGrp="1"/>
          </p:cNvSpPr>
          <p:nvPr/>
        </p:nvSpPr>
        <p:spPr>
          <a:xfrm>
            <a:off x="1352550" y="3181350"/>
            <a:ext cx="2152650" cy="438150"/>
          </a:xfrm>
          <a:prstGeom prst="rect">
            <a:avLst/>
          </a:prstGeom>
          <a:noFill/>
          <a:ln w="0">
            <a:noFill/>
          </a:ln>
        </p:spPr>
        <p:txBody>
          <a:bodyPr wrap="square" lIns="0" tIns="0" rIns="0" bIns="0" anchor="t">
            <a:noAutofit/>
          </a:bodyPr>
          <a:lstStyle>
            <a:defPPr algn="l">
              <a:defRPr sz="2250" b="1">
                <a:solidFill>
                  <a:srgbClr val="102234"/>
                </a:solidFill>
                <a:latin typeface="DejaVu Sans"/>
                <a:ea typeface="DejaVu Sans"/>
                <a:cs typeface="DejaVu Sans"/>
              </a:defRPr>
            </a:defPPr>
          </a:lstStyle>
          <a:p>
            <a:pPr algn="l">
              <a:defRPr sz="2250" b="1">
                <a:solidFill>
                  <a:srgbClr val="102234"/>
                </a:solidFill>
                <a:latin typeface="DejaVu Sans"/>
                <a:ea typeface="DejaVu Sans"/>
                <a:cs typeface="DejaVu Sans"/>
              </a:defRPr>
            </a:pPr>
            <a:r>
              <a:rPr sz="2250" b="1">
                <a:solidFill>
                  <a:srgbClr val="102234"/>
                </a:solidFill>
                <a:latin typeface="DejaVu Sans"/>
                <a:ea typeface="DejaVu Sans"/>
                <a:cs typeface="DejaVu Sans"/>
              </a:rPr>
              <a:t>Estimate</a:t>
            </a:r>
          </a:p>
        </p:txBody>
      </p:sp>
      <p:sp>
        <p:nvSpPr>
          <p:cNvPr id="9" name="function-1-description">
            <a:extLst>
              <a:ext uri="{FF2B5EF4-FFF2-40B4-BE49-F238E27FC236}">
                <a16:creationId xmlns:a16="http://schemas.microsoft.com/office/drawing/2014/main" id="{CEDBB53F-3F32-4B42-8404-9D704810C079}"/>
              </a:ext>
            </a:extLst>
          </p:cNvPr>
          <p:cNvSpPr>
            <a:spLocks noGrp="1"/>
          </p:cNvSpPr>
          <p:nvPr/>
        </p:nvSpPr>
        <p:spPr>
          <a:xfrm>
            <a:off x="3667125" y="3209925"/>
            <a:ext cx="7839075" cy="609600"/>
          </a:xfrm>
          <a:prstGeom prst="rect">
            <a:avLst/>
          </a:prstGeom>
          <a:noFill/>
          <a:ln w="0">
            <a:noFill/>
          </a:ln>
        </p:spPr>
        <p:txBody>
          <a:bodyPr wrap="square" lIns="0" tIns="0" rIns="0" bIns="0" anchor="t">
            <a:noAutofit/>
          </a:bodyPr>
          <a:lstStyle>
            <a:defPPr algn="l">
              <a:defRPr sz="1875" b="0">
                <a:solidFill>
                  <a:srgbClr val="172F41"/>
                </a:solidFill>
                <a:latin typeface="DejaVu Sans"/>
                <a:ea typeface="DejaVu Sans"/>
                <a:cs typeface="DejaVu Sans"/>
              </a:defRPr>
            </a:defPPr>
          </a:lstStyle>
          <a:p>
            <a:pPr algn="l">
              <a:defRPr sz="1875" b="0">
                <a:solidFill>
                  <a:srgbClr val="172F41"/>
                </a:solidFill>
                <a:latin typeface="DejaVu Sans"/>
                <a:ea typeface="DejaVu Sans"/>
                <a:cs typeface="DejaVu Sans"/>
              </a:defRPr>
            </a:pPr>
            <a:r>
              <a:rPr sz="1875" b="0">
                <a:solidFill>
                  <a:srgbClr val="172F41"/>
                </a:solidFill>
                <a:latin typeface="DejaVu Sans"/>
                <a:ea typeface="DejaVu Sans"/>
                <a:cs typeface="DejaVu Sans"/>
              </a:rPr>
              <a:t>Detect objects and maintain tracks with uncertainty</a:t>
            </a:r>
          </a:p>
        </p:txBody>
      </p:sp>
      <p:sp>
        <p:nvSpPr>
          <p:cNvPr id="10" name="function-2-number">
            <a:extLst>
              <a:ext uri="{FF2B5EF4-FFF2-40B4-BE49-F238E27FC236}">
                <a16:creationId xmlns:a16="http://schemas.microsoft.com/office/drawing/2014/main" id="{68EBA192-B53A-4E7A-9C56-019F72762E1E}"/>
              </a:ext>
            </a:extLst>
          </p:cNvPr>
          <p:cNvSpPr>
            <a:spLocks noGrp="1"/>
          </p:cNvSpPr>
          <p:nvPr/>
        </p:nvSpPr>
        <p:spPr>
          <a:xfrm>
            <a:off x="685800" y="4010025"/>
            <a:ext cx="428625" cy="342900"/>
          </a:xfrm>
          <a:prstGeom prst="rect">
            <a:avLst/>
          </a:prstGeom>
          <a:noFill/>
          <a:ln w="0">
            <a:noFill/>
          </a:ln>
        </p:spPr>
        <p:txBody>
          <a:bodyPr wrap="square" lIns="0" tIns="0" rIns="0" bIns="0" anchor="t">
            <a:noAutofit/>
          </a:bodyPr>
          <a:lstStyle>
            <a:defPPr algn="l">
              <a:defRPr sz="1800" b="1">
                <a:solidFill>
                  <a:srgbClr val="126E73"/>
                </a:solidFill>
                <a:latin typeface="DejaVu Sans"/>
                <a:ea typeface="DejaVu Sans"/>
                <a:cs typeface="DejaVu Sans"/>
              </a:defRPr>
            </a:defPPr>
          </a:lstStyle>
          <a:p>
            <a:pPr algn="l">
              <a:defRPr sz="1800" b="1">
                <a:solidFill>
                  <a:srgbClr val="126E73"/>
                </a:solidFill>
                <a:latin typeface="DejaVu Sans"/>
                <a:ea typeface="DejaVu Sans"/>
                <a:cs typeface="DejaVu Sans"/>
              </a:defRPr>
            </a:pPr>
            <a:r>
              <a:rPr sz="1800" b="1">
                <a:solidFill>
                  <a:srgbClr val="126E73"/>
                </a:solidFill>
                <a:latin typeface="DejaVu Sans"/>
                <a:ea typeface="DejaVu Sans"/>
                <a:cs typeface="DejaVu Sans"/>
              </a:rPr>
              <a:t>03</a:t>
            </a:r>
          </a:p>
        </p:txBody>
      </p:sp>
      <p:sp>
        <p:nvSpPr>
          <p:cNvPr id="11" name="function-2-name">
            <a:extLst>
              <a:ext uri="{FF2B5EF4-FFF2-40B4-BE49-F238E27FC236}">
                <a16:creationId xmlns:a16="http://schemas.microsoft.com/office/drawing/2014/main" id="{4F700D88-AFC8-4CCF-A95D-D30ABACFAAE0}"/>
              </a:ext>
            </a:extLst>
          </p:cNvPr>
          <p:cNvSpPr>
            <a:spLocks noGrp="1"/>
          </p:cNvSpPr>
          <p:nvPr/>
        </p:nvSpPr>
        <p:spPr>
          <a:xfrm>
            <a:off x="1352550" y="3962400"/>
            <a:ext cx="2152650" cy="438150"/>
          </a:xfrm>
          <a:prstGeom prst="rect">
            <a:avLst/>
          </a:prstGeom>
          <a:noFill/>
          <a:ln w="0">
            <a:noFill/>
          </a:ln>
        </p:spPr>
        <p:txBody>
          <a:bodyPr wrap="square" lIns="0" tIns="0" rIns="0" bIns="0" anchor="t">
            <a:noAutofit/>
          </a:bodyPr>
          <a:lstStyle>
            <a:defPPr algn="l">
              <a:defRPr sz="2250" b="1">
                <a:solidFill>
                  <a:srgbClr val="102234"/>
                </a:solidFill>
                <a:latin typeface="DejaVu Sans"/>
                <a:ea typeface="DejaVu Sans"/>
                <a:cs typeface="DejaVu Sans"/>
              </a:defRPr>
            </a:defPPr>
          </a:lstStyle>
          <a:p>
            <a:pPr algn="l">
              <a:defRPr sz="2250" b="1">
                <a:solidFill>
                  <a:srgbClr val="102234"/>
                </a:solidFill>
                <a:latin typeface="DejaVu Sans"/>
                <a:ea typeface="DejaVu Sans"/>
                <a:cs typeface="DejaVu Sans"/>
              </a:defRPr>
            </a:pPr>
            <a:r>
              <a:rPr sz="2250" b="1">
                <a:solidFill>
                  <a:srgbClr val="102234"/>
                </a:solidFill>
                <a:latin typeface="DejaVu Sans"/>
                <a:ea typeface="DejaVu Sans"/>
                <a:cs typeface="DejaVu Sans"/>
              </a:rPr>
              <a:t>Assess</a:t>
            </a:r>
          </a:p>
        </p:txBody>
      </p:sp>
      <p:sp>
        <p:nvSpPr>
          <p:cNvPr id="12" name="function-2-description">
            <a:extLst>
              <a:ext uri="{FF2B5EF4-FFF2-40B4-BE49-F238E27FC236}">
                <a16:creationId xmlns:a16="http://schemas.microsoft.com/office/drawing/2014/main" id="{73508DDB-4703-4BEC-A234-2832401B5A15}"/>
              </a:ext>
            </a:extLst>
          </p:cNvPr>
          <p:cNvSpPr>
            <a:spLocks noGrp="1"/>
          </p:cNvSpPr>
          <p:nvPr/>
        </p:nvSpPr>
        <p:spPr>
          <a:xfrm>
            <a:off x="3667125" y="3990975"/>
            <a:ext cx="7839075" cy="609600"/>
          </a:xfrm>
          <a:prstGeom prst="rect">
            <a:avLst/>
          </a:prstGeom>
          <a:noFill/>
          <a:ln w="0">
            <a:noFill/>
          </a:ln>
        </p:spPr>
        <p:txBody>
          <a:bodyPr wrap="square" lIns="0" tIns="0" rIns="0" bIns="0" anchor="t">
            <a:noAutofit/>
          </a:bodyPr>
          <a:lstStyle>
            <a:defPPr algn="l">
              <a:defRPr sz="1875" b="0">
                <a:solidFill>
                  <a:srgbClr val="172F41"/>
                </a:solidFill>
                <a:latin typeface="DejaVu Sans"/>
                <a:ea typeface="DejaVu Sans"/>
                <a:cs typeface="DejaVu Sans"/>
              </a:defRPr>
            </a:defPPr>
          </a:lstStyle>
          <a:p>
            <a:pPr algn="l">
              <a:defRPr sz="1875" b="0">
                <a:solidFill>
                  <a:srgbClr val="172F41"/>
                </a:solidFill>
                <a:latin typeface="DejaVu Sans"/>
                <a:ea typeface="DejaVu Sans"/>
                <a:cs typeface="DejaVu Sans"/>
              </a:defRPr>
            </a:pPr>
            <a:r>
              <a:rPr sz="1875" b="0">
                <a:solidFill>
                  <a:srgbClr val="172F41"/>
                </a:solidFill>
                <a:latin typeface="DejaVu Sans"/>
                <a:ea typeface="DejaVu Sans"/>
                <a:cs typeface="DejaVu Sans"/>
              </a:rPr>
              <a:t>Classify observations and communicate confidence</a:t>
            </a:r>
          </a:p>
        </p:txBody>
      </p:sp>
      <p:sp>
        <p:nvSpPr>
          <p:cNvPr id="13" name="function-3-number">
            <a:extLst>
              <a:ext uri="{FF2B5EF4-FFF2-40B4-BE49-F238E27FC236}">
                <a16:creationId xmlns:a16="http://schemas.microsoft.com/office/drawing/2014/main" id="{CB8E2CA3-8465-4958-BB43-5E936D3EDAC1}"/>
              </a:ext>
            </a:extLst>
          </p:cNvPr>
          <p:cNvSpPr>
            <a:spLocks noGrp="1"/>
          </p:cNvSpPr>
          <p:nvPr/>
        </p:nvSpPr>
        <p:spPr>
          <a:xfrm>
            <a:off x="685800" y="4791075"/>
            <a:ext cx="428625" cy="342900"/>
          </a:xfrm>
          <a:prstGeom prst="rect">
            <a:avLst/>
          </a:prstGeom>
          <a:noFill/>
          <a:ln w="0">
            <a:noFill/>
          </a:ln>
        </p:spPr>
        <p:txBody>
          <a:bodyPr wrap="square" lIns="0" tIns="0" rIns="0" bIns="0" anchor="t">
            <a:noAutofit/>
          </a:bodyPr>
          <a:lstStyle>
            <a:defPPr algn="l">
              <a:defRPr sz="1800" b="1">
                <a:solidFill>
                  <a:srgbClr val="126E73"/>
                </a:solidFill>
                <a:latin typeface="DejaVu Sans"/>
                <a:ea typeface="DejaVu Sans"/>
                <a:cs typeface="DejaVu Sans"/>
              </a:defRPr>
            </a:defPPr>
          </a:lstStyle>
          <a:p>
            <a:pPr algn="l">
              <a:defRPr sz="1800" b="1">
                <a:solidFill>
                  <a:srgbClr val="126E73"/>
                </a:solidFill>
                <a:latin typeface="DejaVu Sans"/>
                <a:ea typeface="DejaVu Sans"/>
                <a:cs typeface="DejaVu Sans"/>
              </a:defRPr>
            </a:pPr>
            <a:r>
              <a:rPr sz="1800" b="1">
                <a:solidFill>
                  <a:srgbClr val="126E73"/>
                </a:solidFill>
                <a:latin typeface="DejaVu Sans"/>
                <a:ea typeface="DejaVu Sans"/>
                <a:cs typeface="DejaVu Sans"/>
              </a:rPr>
              <a:t>04</a:t>
            </a:r>
          </a:p>
        </p:txBody>
      </p:sp>
      <p:sp>
        <p:nvSpPr>
          <p:cNvPr id="14" name="function-3-name">
            <a:extLst>
              <a:ext uri="{FF2B5EF4-FFF2-40B4-BE49-F238E27FC236}">
                <a16:creationId xmlns:a16="http://schemas.microsoft.com/office/drawing/2014/main" id="{B5E40684-8983-4E46-B477-EA19C6C0F3FA}"/>
              </a:ext>
            </a:extLst>
          </p:cNvPr>
          <p:cNvSpPr>
            <a:spLocks noGrp="1"/>
          </p:cNvSpPr>
          <p:nvPr/>
        </p:nvSpPr>
        <p:spPr>
          <a:xfrm>
            <a:off x="1352550" y="4743450"/>
            <a:ext cx="2152650" cy="438150"/>
          </a:xfrm>
          <a:prstGeom prst="rect">
            <a:avLst/>
          </a:prstGeom>
          <a:noFill/>
          <a:ln w="0">
            <a:noFill/>
          </a:ln>
        </p:spPr>
        <p:txBody>
          <a:bodyPr wrap="square" lIns="0" tIns="0" rIns="0" bIns="0" anchor="t">
            <a:noAutofit/>
          </a:bodyPr>
          <a:lstStyle>
            <a:defPPr algn="l">
              <a:defRPr sz="2250" b="1">
                <a:solidFill>
                  <a:srgbClr val="102234"/>
                </a:solidFill>
                <a:latin typeface="DejaVu Sans"/>
                <a:ea typeface="DejaVu Sans"/>
                <a:cs typeface="DejaVu Sans"/>
              </a:defRPr>
            </a:defPPr>
          </a:lstStyle>
          <a:p>
            <a:pPr algn="l">
              <a:defRPr sz="2250" b="1">
                <a:solidFill>
                  <a:srgbClr val="102234"/>
                </a:solidFill>
                <a:latin typeface="DejaVu Sans"/>
                <a:ea typeface="DejaVu Sans"/>
                <a:cs typeface="DejaVu Sans"/>
              </a:defRPr>
            </a:pPr>
            <a:r>
              <a:rPr sz="2250" b="1">
                <a:solidFill>
                  <a:srgbClr val="102234"/>
                </a:solidFill>
                <a:latin typeface="DejaVu Sans"/>
                <a:ea typeface="DejaVu Sans"/>
                <a:cs typeface="DejaVu Sans"/>
              </a:rPr>
              <a:t>Respond</a:t>
            </a:r>
          </a:p>
        </p:txBody>
      </p:sp>
      <p:sp>
        <p:nvSpPr>
          <p:cNvPr id="15" name="function-3-description">
            <a:extLst>
              <a:ext uri="{FF2B5EF4-FFF2-40B4-BE49-F238E27FC236}">
                <a16:creationId xmlns:a16="http://schemas.microsoft.com/office/drawing/2014/main" id="{535AEA4B-498A-486D-8AA5-52C8DE7437C0}"/>
              </a:ext>
            </a:extLst>
          </p:cNvPr>
          <p:cNvSpPr>
            <a:spLocks noGrp="1"/>
          </p:cNvSpPr>
          <p:nvPr/>
        </p:nvSpPr>
        <p:spPr>
          <a:xfrm>
            <a:off x="3667125" y="4772025"/>
            <a:ext cx="7839075" cy="609600"/>
          </a:xfrm>
          <a:prstGeom prst="rect">
            <a:avLst/>
          </a:prstGeom>
          <a:noFill/>
          <a:ln w="0">
            <a:noFill/>
          </a:ln>
        </p:spPr>
        <p:txBody>
          <a:bodyPr wrap="square" lIns="0" tIns="0" rIns="0" bIns="0" anchor="t">
            <a:noAutofit/>
          </a:bodyPr>
          <a:lstStyle>
            <a:defPPr algn="l">
              <a:defRPr sz="1875" b="0">
                <a:solidFill>
                  <a:srgbClr val="172F41"/>
                </a:solidFill>
                <a:latin typeface="DejaVu Sans"/>
                <a:ea typeface="DejaVu Sans"/>
                <a:cs typeface="DejaVu Sans"/>
              </a:defRPr>
            </a:defPPr>
          </a:lstStyle>
          <a:p>
            <a:pPr algn="l">
              <a:defRPr sz="1875" b="0">
                <a:solidFill>
                  <a:srgbClr val="172F41"/>
                </a:solidFill>
                <a:latin typeface="DejaVu Sans"/>
                <a:ea typeface="DejaVu Sans"/>
                <a:cs typeface="DejaVu Sans"/>
              </a:defRPr>
            </a:pPr>
            <a:r>
              <a:rPr sz="1875" b="0">
                <a:solidFill>
                  <a:srgbClr val="172F41"/>
                </a:solidFill>
                <a:latin typeface="DejaVu Sans"/>
                <a:ea typeface="DejaVu Sans"/>
                <a:cs typeface="DejaVu Sans"/>
              </a:rPr>
              <a:t>Alert an operator for review and an authorized decision</a:t>
            </a:r>
          </a:p>
        </p:txBody>
      </p:sp>
      <p:sp>
        <p:nvSpPr>
          <p:cNvPr id="16" name="interfaces">
            <a:extLst>
              <a:ext uri="{FF2B5EF4-FFF2-40B4-BE49-F238E27FC236}">
                <a16:creationId xmlns:a16="http://schemas.microsoft.com/office/drawing/2014/main" id="{196D51FE-9EE3-4415-8DF3-18B42F0E1518}"/>
              </a:ext>
            </a:extLst>
          </p:cNvPr>
          <p:cNvSpPr>
            <a:spLocks noGrp="1"/>
          </p:cNvSpPr>
          <p:nvPr/>
        </p:nvSpPr>
        <p:spPr>
          <a:xfrm>
            <a:off x="685800" y="5695950"/>
            <a:ext cx="10820400" cy="381000"/>
          </a:xfrm>
          <a:prstGeom prst="rect">
            <a:avLst/>
          </a:prstGeom>
          <a:noFill/>
          <a:ln w="0">
            <a:noFill/>
          </a:ln>
        </p:spPr>
        <p:txBody>
          <a:bodyPr wrap="square" lIns="0" tIns="0" rIns="0" bIns="0" anchor="t">
            <a:noAutofit/>
          </a:bodyPr>
          <a:lstStyle>
            <a:defPPr algn="l">
              <a:defRPr sz="1725" b="0">
                <a:solidFill>
                  <a:srgbClr val="5A6B76"/>
                </a:solidFill>
                <a:latin typeface="DejaVu Sans"/>
                <a:ea typeface="DejaVu Sans"/>
                <a:cs typeface="DejaVu Sans"/>
              </a:defRPr>
            </a:defPPr>
          </a:lstStyle>
          <a:p>
            <a:pPr algn="l">
              <a:defRPr sz="1725" b="0">
                <a:solidFill>
                  <a:srgbClr val="5A6B76"/>
                </a:solidFill>
                <a:latin typeface="DejaVu Sans"/>
                <a:ea typeface="DejaVu Sans"/>
                <a:cs typeface="DejaVu Sans"/>
              </a:defRPr>
            </a:pPr>
            <a:r>
              <a:rPr sz="1725" b="0">
                <a:solidFill>
                  <a:srgbClr val="5A6B76"/>
                </a:solidFill>
                <a:latin typeface="DejaVu Sans"/>
                <a:ea typeface="DejaVu Sans"/>
                <a:cs typeface="DejaVu Sans"/>
              </a:rPr>
              <a:t>Shared interfaces: power, timing, data, communications, and mounting</a:t>
            </a:r>
          </a:p>
        </p:txBody>
      </p:sp>
      <p:sp>
        <p:nvSpPr>
          <p:cNvPr id="17" name="source-footnote">
            <a:extLst>
              <a:ext uri="{FF2B5EF4-FFF2-40B4-BE49-F238E27FC236}">
                <a16:creationId xmlns:a16="http://schemas.microsoft.com/office/drawing/2014/main" id="{1B63E376-640C-4E90-8728-54E951092F6C}"/>
              </a:ext>
            </a:extLst>
          </p:cNvPr>
          <p:cNvSpPr>
            <a:spLocks noGrp="1"/>
          </p:cNvSpPr>
          <p:nvPr/>
        </p:nvSpPr>
        <p:spPr>
          <a:xfrm>
            <a:off x="685800" y="6210300"/>
            <a:ext cx="10077450" cy="304800"/>
          </a:xfrm>
          <a:prstGeom prst="rect">
            <a:avLst/>
          </a:prstGeom>
          <a:noFill/>
          <a:ln w="0">
            <a:noFill/>
          </a:ln>
        </p:spPr>
        <p:txBody>
          <a:bodyPr wrap="square" lIns="0" tIns="0" rIns="0" bIns="0" anchor="t">
            <a:noAutofit/>
          </a:bodyPr>
          <a:lstStyle>
            <a:defPPr algn="l">
              <a:defRPr sz="1200" b="0">
                <a:solidFill>
                  <a:srgbClr val="5A6B76"/>
                </a:solidFill>
                <a:latin typeface="DejaVu Sans"/>
                <a:ea typeface="DejaVu Sans"/>
                <a:cs typeface="DejaVu Sans"/>
              </a:defRPr>
            </a:defPPr>
          </a:lstStyle>
          <a:p>
            <a:pPr algn="l">
              <a:defRPr sz="1200" b="0">
                <a:solidFill>
                  <a:srgbClr val="5A6B76"/>
                </a:solidFill>
                <a:latin typeface="DejaVu Sans"/>
                <a:ea typeface="DejaVu Sans"/>
                <a:cs typeface="DejaVu Sans"/>
              </a:defRPr>
            </a:pPr>
            <a:r>
              <a:rPr sz="1200" b="0">
                <a:solidFill>
                  <a:srgbClr val="5A6B76"/>
                </a:solidFill>
                <a:latin typeface="DejaVu Sans"/>
                <a:ea typeface="DejaVu Sans"/>
                <a:cs typeface="DejaVu Sans"/>
              </a:rPr>
              <a:t>Adapted from L02, p. 12. Initial project scope: monitoring and operator alerts.</a:t>
            </a:r>
          </a:p>
        </p:txBody>
      </p:sp>
    </p:spTree>
    <p:extLst>
      <p:ext uri="{BB962C8B-B14F-4D97-AF65-F5344CB8AC3E}">
        <p14:creationId xmlns:p14="http://schemas.microsoft.com/office/powerpoint/2010/main" val="20364679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6" name="slide-title">
            <a:extLst>
              <a:ext uri="{FF2B5EF4-FFF2-40B4-BE49-F238E27FC236}">
                <a16:creationId xmlns:a16="http://schemas.microsoft.com/office/drawing/2014/main" id="{A41041D9-3230-4FF2-96D7-DB2A88CDE911}"/>
              </a:ext>
            </a:extLst>
          </p:cNvPr>
          <p:cNvSpPr>
            <a:spLocks noGrp="1"/>
          </p:cNvSpPr>
          <p:nvPr/>
        </p:nvSpPr>
        <p:spPr>
          <a:xfrm>
            <a:off x="685800" y="495300"/>
            <a:ext cx="10820400" cy="685800"/>
          </a:xfrm>
          <a:prstGeom prst="rect">
            <a:avLst/>
          </a:prstGeom>
          <a:noFill/>
          <a:ln w="0">
            <a:noFill/>
          </a:ln>
        </p:spPr>
        <p:txBody>
          <a:bodyPr wrap="square" lIns="0" tIns="0" rIns="0" bIns="0" anchor="t">
            <a:noAutofit/>
          </a:bodyPr>
          <a:lstStyle>
            <a:defPPr algn="l">
              <a:defRPr sz="3450" b="1">
                <a:solidFill>
                  <a:srgbClr val="102234"/>
                </a:solidFill>
                <a:latin typeface="DejaVu Sans"/>
                <a:ea typeface="DejaVu Sans"/>
                <a:cs typeface="DejaVu Sans"/>
              </a:defRPr>
            </a:defPPr>
          </a:lstStyle>
          <a:p>
            <a:pPr algn="l">
              <a:defRPr sz="3450" b="1">
                <a:solidFill>
                  <a:srgbClr val="102234"/>
                </a:solidFill>
                <a:latin typeface="DejaVu Sans"/>
                <a:ea typeface="DejaVu Sans"/>
                <a:cs typeface="DejaVu Sans"/>
              </a:defRPr>
            </a:pPr>
            <a:r>
              <a:rPr sz="3450" b="1" dirty="0">
                <a:solidFill>
                  <a:srgbClr val="102234"/>
                </a:solidFill>
                <a:latin typeface="DejaVu Sans"/>
                <a:ea typeface="DejaVu Sans"/>
                <a:cs typeface="DejaVu Sans"/>
              </a:rPr>
              <a:t>Connections to </a:t>
            </a:r>
            <a:r>
              <a:rPr lang="en-US" sz="3450" b="1" dirty="0">
                <a:solidFill>
                  <a:srgbClr val="102234"/>
                </a:solidFill>
                <a:latin typeface="DejaVu Sans"/>
                <a:ea typeface="DejaVu Sans"/>
                <a:cs typeface="DejaVu Sans"/>
              </a:rPr>
              <a:t>L</a:t>
            </a:r>
            <a:r>
              <a:rPr sz="3450" b="1" dirty="0">
                <a:solidFill>
                  <a:srgbClr val="102234"/>
                </a:solidFill>
                <a:latin typeface="DejaVu Sans"/>
                <a:ea typeface="DejaVu Sans"/>
                <a:cs typeface="DejaVu Sans"/>
              </a:rPr>
              <a:t>ectures 1-9</a:t>
            </a:r>
          </a:p>
        </p:txBody>
      </p:sp>
      <p:sp>
        <p:nvSpPr>
          <p:cNvPr id="2" name="subtitle">
            <a:extLst>
              <a:ext uri="{FF2B5EF4-FFF2-40B4-BE49-F238E27FC236}">
                <a16:creationId xmlns:a16="http://schemas.microsoft.com/office/drawing/2014/main" id="{548F61F3-A183-49BE-AB0E-DA4C2F7C00B4}"/>
              </a:ext>
            </a:extLst>
          </p:cNvPr>
          <p:cNvSpPr>
            <a:spLocks noGrp="1"/>
          </p:cNvSpPr>
          <p:nvPr/>
        </p:nvSpPr>
        <p:spPr>
          <a:xfrm>
            <a:off x="685800" y="1257300"/>
            <a:ext cx="10820400" cy="590550"/>
          </a:xfrm>
          <a:prstGeom prst="rect">
            <a:avLst/>
          </a:prstGeom>
          <a:noFill/>
          <a:ln w="0">
            <a:noFill/>
          </a:ln>
        </p:spPr>
        <p:txBody>
          <a:bodyPr wrap="square" lIns="0" tIns="0" rIns="0" bIns="0" anchor="t">
            <a:noAutofit/>
          </a:bodyPr>
          <a:lstStyle>
            <a:defPPr algn="l">
              <a:defRPr sz="1800" b="0">
                <a:solidFill>
                  <a:srgbClr val="5A6B76"/>
                </a:solidFill>
                <a:latin typeface="DejaVu Sans"/>
                <a:ea typeface="DejaVu Sans"/>
                <a:cs typeface="DejaVu Sans"/>
              </a:defRPr>
            </a:defPPr>
          </a:lstStyle>
          <a:p>
            <a:pPr algn="l">
              <a:defRPr sz="1800" b="0">
                <a:solidFill>
                  <a:srgbClr val="5A6B76"/>
                </a:solidFill>
                <a:latin typeface="DejaVu Sans"/>
                <a:ea typeface="DejaVu Sans"/>
                <a:cs typeface="DejaVu Sans"/>
              </a:defRPr>
            </a:pPr>
            <a:r>
              <a:rPr sz="1800" b="0">
                <a:solidFill>
                  <a:srgbClr val="5A6B76"/>
                </a:solidFill>
                <a:latin typeface="DejaVu Sans"/>
                <a:ea typeface="DejaVu Sans"/>
                <a:cs typeface="DejaVu Sans"/>
              </a:rPr>
              <a:t>The system provides one case study across the course design workflow.</a:t>
            </a:r>
          </a:p>
        </p:txBody>
      </p:sp>
      <p:sp>
        <p:nvSpPr>
          <p:cNvPr id="3" name="page-number">
            <a:extLst>
              <a:ext uri="{FF2B5EF4-FFF2-40B4-BE49-F238E27FC236}">
                <a16:creationId xmlns:a16="http://schemas.microsoft.com/office/drawing/2014/main" id="{EF8BDD2A-3426-4A2C-9960-C132828337BE}"/>
              </a:ext>
            </a:extLst>
          </p:cNvPr>
          <p:cNvSpPr>
            <a:spLocks noGrp="1"/>
          </p:cNvSpPr>
          <p:nvPr/>
        </p:nvSpPr>
        <p:spPr>
          <a:xfrm>
            <a:off x="11029950" y="6286500"/>
            <a:ext cx="476250" cy="209550"/>
          </a:xfrm>
          <a:prstGeom prst="rect">
            <a:avLst/>
          </a:prstGeom>
          <a:noFill/>
          <a:ln w="0">
            <a:noFill/>
          </a:ln>
        </p:spPr>
        <p:txBody>
          <a:bodyPr wrap="square" lIns="0" tIns="0" rIns="0" bIns="0" anchor="t">
            <a:noAutofit/>
          </a:bodyPr>
          <a:lstStyle>
            <a:defPPr algn="r">
              <a:defRPr sz="1200" b="0">
                <a:solidFill>
                  <a:srgbClr val="5A6B76"/>
                </a:solidFill>
                <a:latin typeface="DejaVu Sans"/>
                <a:ea typeface="DejaVu Sans"/>
                <a:cs typeface="DejaVu Sans"/>
              </a:defRPr>
            </a:defPPr>
          </a:lstStyle>
          <a:p>
            <a:pPr algn="r">
              <a:defRPr sz="1200" b="0">
                <a:solidFill>
                  <a:srgbClr val="5A6B76"/>
                </a:solidFill>
                <a:latin typeface="DejaVu Sans"/>
                <a:ea typeface="DejaVu Sans"/>
                <a:cs typeface="DejaVu Sans"/>
              </a:defRPr>
            </a:pPr>
            <a:r>
              <a:rPr sz="1200" b="0">
                <a:solidFill>
                  <a:srgbClr val="5A6B76"/>
                </a:solidFill>
                <a:latin typeface="DejaVu Sans"/>
                <a:ea typeface="DejaVu Sans"/>
                <a:cs typeface="DejaVu Sans"/>
              </a:rPr>
              <a:t>03</a:t>
            </a:r>
          </a:p>
        </p:txBody>
      </p:sp>
      <p:graphicFrame>
        <p:nvGraphicFramePr>
          <p:cNvPr id="4" name="Table 3">
            <a:extLst>
              <a:ext uri="{FF2B5EF4-FFF2-40B4-BE49-F238E27FC236}">
                <a16:creationId xmlns:a16="http://schemas.microsoft.com/office/drawing/2014/main" id="{5C469F49-9804-4372-B5EE-91DBDC8AE4E9}"/>
              </a:ext>
            </a:extLst>
          </p:cNvPr>
          <p:cNvGraphicFramePr/>
          <p:nvPr>
            <p:extLst>
              <p:ext uri="{D42A27DB-BD31-4B8C-83A1-F6EECF244321}">
                <p14:modId xmlns:p14="http://schemas.microsoft.com/office/powerpoint/2010/main" val="2845531235"/>
              </p:ext>
            </p:extLst>
          </p:nvPr>
        </p:nvGraphicFramePr>
        <p:xfrm>
          <a:off x="707923" y="1895475"/>
          <a:ext cx="10798277" cy="4038600"/>
        </p:xfrm>
        <a:graphic>
          <a:graphicData uri="http://schemas.openxmlformats.org/drawingml/2006/table">
            <a:tbl>
              <a:tblPr firstRow="1"/>
              <a:tblGrid>
                <a:gridCol w="1311377">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6286500">
                  <a:extLst>
                    <a:ext uri="{9D8B030D-6E8A-4147-A177-3AD203B41FA5}">
                      <a16:colId xmlns:a16="http://schemas.microsoft.com/office/drawing/2014/main" val="20002"/>
                    </a:ext>
                  </a:extLst>
                </a:gridCol>
              </a:tblGrid>
              <a:tr h="495300">
                <a:tc>
                  <a:txBody>
                    <a:bodyPr/>
                    <a:lstStyle/>
                    <a:p>
                      <a:pPr algn="l"/>
                      <a:r>
                        <a:rPr sz="1725" b="1">
                          <a:solidFill>
                            <a:srgbClr val="FFFFFF"/>
                          </a:solidFill>
                          <a:latin typeface="DejaVu Sans"/>
                          <a:ea typeface="DejaVu Sans"/>
                          <a:cs typeface="DejaVu Sans"/>
                        </a:rPr>
                        <a:t>Lectures</a:t>
                      </a:r>
                    </a:p>
                  </a:txBody>
                  <a:tcPr anchor="ctr">
                    <a:solidFill>
                      <a:srgbClr val="102234"/>
                    </a:solidFill>
                  </a:tcPr>
                </a:tc>
                <a:tc>
                  <a:txBody>
                    <a:bodyPr/>
                    <a:lstStyle/>
                    <a:p>
                      <a:pPr algn="l"/>
                      <a:r>
                        <a:rPr sz="1725" b="1">
                          <a:solidFill>
                            <a:srgbClr val="FFFFFF"/>
                          </a:solidFill>
                          <a:latin typeface="DejaVu Sans"/>
                          <a:ea typeface="DejaVu Sans"/>
                          <a:cs typeface="DejaVu Sans"/>
                        </a:rPr>
                        <a:t>Course method</a:t>
                      </a:r>
                    </a:p>
                  </a:txBody>
                  <a:tcPr anchor="ctr">
                    <a:solidFill>
                      <a:srgbClr val="102234"/>
                    </a:solidFill>
                  </a:tcPr>
                </a:tc>
                <a:tc>
                  <a:txBody>
                    <a:bodyPr/>
                    <a:lstStyle/>
                    <a:p>
                      <a:pPr algn="l"/>
                      <a:r>
                        <a:rPr sz="1725" b="1">
                          <a:solidFill>
                            <a:srgbClr val="FFFFFF"/>
                          </a:solidFill>
                          <a:latin typeface="DejaVu Sans"/>
                          <a:ea typeface="DejaVu Sans"/>
                          <a:cs typeface="DejaVu Sans"/>
                        </a:rPr>
                        <a:t>Application to this system</a:t>
                      </a:r>
                    </a:p>
                  </a:txBody>
                  <a:tcPr anchor="ctr">
                    <a:solidFill>
                      <a:srgbClr val="102234"/>
                    </a:solidFill>
                  </a:tcPr>
                </a:tc>
                <a:extLst>
                  <a:ext uri="{0D108BD9-81ED-4DB2-BD59-A6C34878D82A}">
                    <a16:rowId xmlns:a16="http://schemas.microsoft.com/office/drawing/2014/main" val="10000"/>
                  </a:ext>
                </a:extLst>
              </a:tr>
              <a:tr h="590550">
                <a:tc>
                  <a:txBody>
                    <a:bodyPr/>
                    <a:lstStyle/>
                    <a:p>
                      <a:pPr algn="l"/>
                      <a:r>
                        <a:rPr sz="1725" b="1">
                          <a:solidFill>
                            <a:srgbClr val="126E73"/>
                          </a:solidFill>
                          <a:latin typeface="DejaVu Sans"/>
                          <a:ea typeface="DejaVu Sans"/>
                          <a:cs typeface="DejaVu Sans"/>
                        </a:rPr>
                        <a:t>L01</a:t>
                      </a:r>
                    </a:p>
                  </a:txBody>
                  <a:tcPr anchor="ctr">
                    <a:solidFill>
                      <a:srgbClr val="FAFAF7"/>
                    </a:solidFill>
                  </a:tcPr>
                </a:tc>
                <a:tc>
                  <a:txBody>
                    <a:bodyPr/>
                    <a:lstStyle/>
                    <a:p>
                      <a:pPr algn="l"/>
                      <a:r>
                        <a:rPr sz="1725" b="0">
                          <a:solidFill>
                            <a:srgbClr val="172F41"/>
                          </a:solidFill>
                          <a:latin typeface="DejaVu Sans"/>
                          <a:ea typeface="DejaVu Sans"/>
                          <a:cs typeface="DejaVu Sans"/>
                        </a:rPr>
                        <a:t>Cyber-physical systems</a:t>
                      </a:r>
                    </a:p>
                  </a:txBody>
                  <a:tcPr anchor="ctr">
                    <a:solidFill>
                      <a:srgbClr val="FAFAF7"/>
                    </a:solidFill>
                  </a:tcPr>
                </a:tc>
                <a:tc>
                  <a:txBody>
                    <a:bodyPr/>
                    <a:lstStyle/>
                    <a:p>
                      <a:pPr algn="l"/>
                      <a:r>
                        <a:rPr sz="1725" b="0">
                          <a:solidFill>
                            <a:srgbClr val="172F41"/>
                          </a:solidFill>
                          <a:latin typeface="DejaVu Sans"/>
                          <a:ea typeface="DejaVu Sans"/>
                          <a:cs typeface="DejaVu Sans"/>
                        </a:rPr>
                        <a:t>Connect physical motion with sensing and computing</a:t>
                      </a:r>
                    </a:p>
                  </a:txBody>
                  <a:tcPr anchor="ctr">
                    <a:solidFill>
                      <a:srgbClr val="FAFAF7"/>
                    </a:solidFill>
                  </a:tcPr>
                </a:tc>
                <a:extLst>
                  <a:ext uri="{0D108BD9-81ED-4DB2-BD59-A6C34878D82A}">
                    <a16:rowId xmlns:a16="http://schemas.microsoft.com/office/drawing/2014/main" val="10001"/>
                  </a:ext>
                </a:extLst>
              </a:tr>
              <a:tr h="590550">
                <a:tc>
                  <a:txBody>
                    <a:bodyPr/>
                    <a:lstStyle/>
                    <a:p>
                      <a:pPr algn="l"/>
                      <a:r>
                        <a:rPr sz="1725" b="1">
                          <a:solidFill>
                            <a:srgbClr val="126E73"/>
                          </a:solidFill>
                          <a:latin typeface="DejaVu Sans"/>
                          <a:ea typeface="DejaVu Sans"/>
                          <a:cs typeface="DejaVu Sans"/>
                        </a:rPr>
                        <a:t>L02-03</a:t>
                      </a:r>
                    </a:p>
                  </a:txBody>
                  <a:tcPr anchor="ctr">
                    <a:solidFill>
                      <a:srgbClr val="FAFAF7"/>
                    </a:solidFill>
                  </a:tcPr>
                </a:tc>
                <a:tc>
                  <a:txBody>
                    <a:bodyPr/>
                    <a:lstStyle/>
                    <a:p>
                      <a:pPr algn="l"/>
                      <a:r>
                        <a:rPr sz="1725" b="0">
                          <a:solidFill>
                            <a:srgbClr val="172F41"/>
                          </a:solidFill>
                          <a:latin typeface="DejaVu Sans"/>
                          <a:ea typeface="DejaVu Sans"/>
                          <a:cs typeface="DejaVu Sans"/>
                        </a:rPr>
                        <a:t>MBSE and SysML</a:t>
                      </a:r>
                    </a:p>
                  </a:txBody>
                  <a:tcPr anchor="ctr">
                    <a:solidFill>
                      <a:srgbClr val="FAFAF7"/>
                    </a:solidFill>
                  </a:tcPr>
                </a:tc>
                <a:tc>
                  <a:txBody>
                    <a:bodyPr/>
                    <a:lstStyle/>
                    <a:p>
                      <a:pPr algn="l"/>
                      <a:r>
                        <a:rPr sz="1725" b="0">
                          <a:solidFill>
                            <a:srgbClr val="172F41"/>
                          </a:solidFill>
                          <a:latin typeface="DejaVu Sans"/>
                          <a:ea typeface="DejaVu Sans"/>
                          <a:cs typeface="DejaVu Sans"/>
                        </a:rPr>
                        <a:t>Trace requirements through components and tests</a:t>
                      </a:r>
                    </a:p>
                  </a:txBody>
                  <a:tcPr anchor="ctr">
                    <a:solidFill>
                      <a:srgbClr val="FAFAF7"/>
                    </a:solidFill>
                  </a:tcPr>
                </a:tc>
                <a:extLst>
                  <a:ext uri="{0D108BD9-81ED-4DB2-BD59-A6C34878D82A}">
                    <a16:rowId xmlns:a16="http://schemas.microsoft.com/office/drawing/2014/main" val="10002"/>
                  </a:ext>
                </a:extLst>
              </a:tr>
              <a:tr h="590550">
                <a:tc>
                  <a:txBody>
                    <a:bodyPr/>
                    <a:lstStyle/>
                    <a:p>
                      <a:pPr algn="l"/>
                      <a:r>
                        <a:rPr sz="1725" b="1">
                          <a:solidFill>
                            <a:srgbClr val="126E73"/>
                          </a:solidFill>
                          <a:latin typeface="DejaVu Sans"/>
                          <a:ea typeface="DejaVu Sans"/>
                          <a:cs typeface="DejaVu Sans"/>
                        </a:rPr>
                        <a:t>L04-05</a:t>
                      </a:r>
                    </a:p>
                  </a:txBody>
                  <a:tcPr anchor="ctr">
                    <a:solidFill>
                      <a:srgbClr val="FAFAF7"/>
                    </a:solidFill>
                  </a:tcPr>
                </a:tc>
                <a:tc>
                  <a:txBody>
                    <a:bodyPr/>
                    <a:lstStyle/>
                    <a:p>
                      <a:pPr algn="l"/>
                      <a:r>
                        <a:rPr sz="1725" b="0">
                          <a:solidFill>
                            <a:srgbClr val="172F41"/>
                          </a:solidFill>
                          <a:latin typeface="DejaVu Sans"/>
                          <a:ea typeface="DejaVu Sans"/>
                          <a:cs typeface="DejaVu Sans"/>
                        </a:rPr>
                        <a:t>Architecture modeling</a:t>
                      </a:r>
                    </a:p>
                  </a:txBody>
                  <a:tcPr anchor="ctr">
                    <a:solidFill>
                      <a:srgbClr val="FAFAF7"/>
                    </a:solidFill>
                  </a:tcPr>
                </a:tc>
                <a:tc>
                  <a:txBody>
                    <a:bodyPr/>
                    <a:lstStyle/>
                    <a:p>
                      <a:pPr algn="l"/>
                      <a:r>
                        <a:rPr sz="1725" b="0">
                          <a:solidFill>
                            <a:srgbClr val="172F41"/>
                          </a:solidFill>
                          <a:latin typeface="DejaVu Sans"/>
                          <a:ea typeface="DejaVu Sans"/>
                          <a:cs typeface="DejaVu Sans"/>
                        </a:rPr>
                        <a:t>Define data, power, and structural interfaces</a:t>
                      </a:r>
                    </a:p>
                  </a:txBody>
                  <a:tcPr anchor="ctr">
                    <a:solidFill>
                      <a:srgbClr val="FAFAF7"/>
                    </a:solidFill>
                  </a:tcPr>
                </a:tc>
                <a:extLst>
                  <a:ext uri="{0D108BD9-81ED-4DB2-BD59-A6C34878D82A}">
                    <a16:rowId xmlns:a16="http://schemas.microsoft.com/office/drawing/2014/main" val="10003"/>
                  </a:ext>
                </a:extLst>
              </a:tr>
              <a:tr h="590550">
                <a:tc>
                  <a:txBody>
                    <a:bodyPr/>
                    <a:lstStyle/>
                    <a:p>
                      <a:pPr algn="l"/>
                      <a:r>
                        <a:rPr sz="1725" b="1">
                          <a:solidFill>
                            <a:srgbClr val="126E73"/>
                          </a:solidFill>
                          <a:latin typeface="DejaVu Sans"/>
                          <a:ea typeface="DejaVu Sans"/>
                          <a:cs typeface="DejaVu Sans"/>
                        </a:rPr>
                        <a:t>L06</a:t>
                      </a:r>
                    </a:p>
                  </a:txBody>
                  <a:tcPr anchor="ctr">
                    <a:solidFill>
                      <a:srgbClr val="FAFAF7"/>
                    </a:solidFill>
                  </a:tcPr>
                </a:tc>
                <a:tc>
                  <a:txBody>
                    <a:bodyPr/>
                    <a:lstStyle/>
                    <a:p>
                      <a:pPr algn="l"/>
                      <a:r>
                        <a:rPr sz="1725" b="0">
                          <a:solidFill>
                            <a:srgbClr val="172F41"/>
                          </a:solidFill>
                          <a:latin typeface="DejaVu Sans"/>
                          <a:ea typeface="DejaVu Sans"/>
                          <a:cs typeface="DejaVu Sans"/>
                        </a:rPr>
                        <a:t>Design-space exploration</a:t>
                      </a:r>
                    </a:p>
                  </a:txBody>
                  <a:tcPr anchor="ctr">
                    <a:solidFill>
                      <a:srgbClr val="FAFAF7"/>
                    </a:solidFill>
                  </a:tcPr>
                </a:tc>
                <a:tc>
                  <a:txBody>
                    <a:bodyPr/>
                    <a:lstStyle/>
                    <a:p>
                      <a:pPr algn="l"/>
                      <a:r>
                        <a:rPr sz="1725" b="0">
                          <a:solidFill>
                            <a:srgbClr val="172F41"/>
                          </a:solidFill>
                          <a:latin typeface="DejaVu Sans"/>
                          <a:ea typeface="DejaVu Sans"/>
                          <a:cs typeface="DejaVu Sans"/>
                        </a:rPr>
                        <a:t>Compare feasible subsystem combinations</a:t>
                      </a:r>
                    </a:p>
                  </a:txBody>
                  <a:tcPr anchor="ctr">
                    <a:solidFill>
                      <a:srgbClr val="FAFAF7"/>
                    </a:solidFill>
                  </a:tcPr>
                </a:tc>
                <a:extLst>
                  <a:ext uri="{0D108BD9-81ED-4DB2-BD59-A6C34878D82A}">
                    <a16:rowId xmlns:a16="http://schemas.microsoft.com/office/drawing/2014/main" val="10004"/>
                  </a:ext>
                </a:extLst>
              </a:tr>
              <a:tr h="590550">
                <a:tc>
                  <a:txBody>
                    <a:bodyPr/>
                    <a:lstStyle/>
                    <a:p>
                      <a:pPr algn="l"/>
                      <a:r>
                        <a:rPr sz="1725" b="1">
                          <a:solidFill>
                            <a:srgbClr val="126E73"/>
                          </a:solidFill>
                          <a:latin typeface="DejaVu Sans"/>
                          <a:ea typeface="DejaVu Sans"/>
                          <a:cs typeface="DejaVu Sans"/>
                        </a:rPr>
                        <a:t>L07</a:t>
                      </a:r>
                    </a:p>
                  </a:txBody>
                  <a:tcPr anchor="ctr">
                    <a:solidFill>
                      <a:srgbClr val="FAFAF7"/>
                    </a:solidFill>
                  </a:tcPr>
                </a:tc>
                <a:tc>
                  <a:txBody>
                    <a:bodyPr/>
                    <a:lstStyle/>
                    <a:p>
                      <a:pPr algn="l"/>
                      <a:r>
                        <a:rPr sz="1725" b="0">
                          <a:solidFill>
                            <a:srgbClr val="172F41"/>
                          </a:solidFill>
                          <a:latin typeface="DejaVu Sans"/>
                          <a:ea typeface="DejaVu Sans"/>
                          <a:cs typeface="DejaVu Sans"/>
                        </a:rPr>
                        <a:t>Hybrid dynamics</a:t>
                      </a:r>
                    </a:p>
                  </a:txBody>
                  <a:tcPr anchor="ctr">
                    <a:solidFill>
                      <a:srgbClr val="FAFAF7"/>
                    </a:solidFill>
                  </a:tcPr>
                </a:tc>
                <a:tc>
                  <a:txBody>
                    <a:bodyPr/>
                    <a:lstStyle/>
                    <a:p>
                      <a:pPr algn="l"/>
                      <a:r>
                        <a:rPr sz="1725" b="0">
                          <a:solidFill>
                            <a:srgbClr val="172F41"/>
                          </a:solidFill>
                          <a:latin typeface="DejaVu Sans"/>
                          <a:ea typeface="DejaVu Sans"/>
                          <a:cs typeface="DejaVu Sans"/>
                        </a:rPr>
                        <a:t>Model motion, modes, and sensor faults</a:t>
                      </a:r>
                    </a:p>
                  </a:txBody>
                  <a:tcPr anchor="ctr">
                    <a:solidFill>
                      <a:srgbClr val="FAFAF7"/>
                    </a:solidFill>
                  </a:tcPr>
                </a:tc>
                <a:extLst>
                  <a:ext uri="{0D108BD9-81ED-4DB2-BD59-A6C34878D82A}">
                    <a16:rowId xmlns:a16="http://schemas.microsoft.com/office/drawing/2014/main" val="10005"/>
                  </a:ext>
                </a:extLst>
              </a:tr>
              <a:tr h="590550">
                <a:tc>
                  <a:txBody>
                    <a:bodyPr/>
                    <a:lstStyle/>
                    <a:p>
                      <a:pPr algn="l"/>
                      <a:r>
                        <a:rPr sz="1725" b="1">
                          <a:solidFill>
                            <a:srgbClr val="126E73"/>
                          </a:solidFill>
                          <a:latin typeface="DejaVu Sans"/>
                          <a:ea typeface="DejaVu Sans"/>
                          <a:cs typeface="DejaVu Sans"/>
                        </a:rPr>
                        <a:t>L08-09</a:t>
                      </a:r>
                    </a:p>
                  </a:txBody>
                  <a:tcPr anchor="ctr">
                    <a:solidFill>
                      <a:srgbClr val="FAFAF7"/>
                    </a:solidFill>
                  </a:tcPr>
                </a:tc>
                <a:tc>
                  <a:txBody>
                    <a:bodyPr/>
                    <a:lstStyle/>
                    <a:p>
                      <a:pPr algn="l"/>
                      <a:r>
                        <a:rPr sz="1725" b="0">
                          <a:solidFill>
                            <a:srgbClr val="172F41"/>
                          </a:solidFill>
                          <a:latin typeface="DejaVu Sans"/>
                          <a:ea typeface="DejaVu Sans"/>
                          <a:cs typeface="DejaVu Sans"/>
                        </a:rPr>
                        <a:t>Higher fidelity and MDAO</a:t>
                      </a:r>
                    </a:p>
                  </a:txBody>
                  <a:tcPr anchor="ctr">
                    <a:solidFill>
                      <a:srgbClr val="FAFAF7"/>
                    </a:solidFill>
                  </a:tcPr>
                </a:tc>
                <a:tc>
                  <a:txBody>
                    <a:bodyPr/>
                    <a:lstStyle/>
                    <a:p>
                      <a:pPr algn="l"/>
                      <a:r>
                        <a:rPr sz="1725" b="0" dirty="0">
                          <a:solidFill>
                            <a:srgbClr val="172F41"/>
                          </a:solidFill>
                          <a:latin typeface="DejaVu Sans"/>
                          <a:ea typeface="DejaVu Sans"/>
                          <a:cs typeface="DejaVu Sans"/>
                        </a:rPr>
                        <a:t>Couple thermal, structural, and computing models</a:t>
                      </a:r>
                    </a:p>
                  </a:txBody>
                  <a:tcPr anchor="ctr">
                    <a:solidFill>
                      <a:srgbClr val="FAFAF7"/>
                    </a:solidFill>
                  </a:tcPr>
                </a:tc>
                <a:extLst>
                  <a:ext uri="{0D108BD9-81ED-4DB2-BD59-A6C34878D82A}">
                    <a16:rowId xmlns:a16="http://schemas.microsoft.com/office/drawing/2014/main" val="10006"/>
                  </a:ext>
                </a:extLst>
              </a:tr>
            </a:tbl>
          </a:graphicData>
        </a:graphic>
      </p:graphicFrame>
      <p:sp>
        <p:nvSpPr>
          <p:cNvPr id="5" name="source-footnote">
            <a:extLst>
              <a:ext uri="{FF2B5EF4-FFF2-40B4-BE49-F238E27FC236}">
                <a16:creationId xmlns:a16="http://schemas.microsoft.com/office/drawing/2014/main" id="{2AB8E44A-42E7-4B2A-B4EF-8270D7F583E3}"/>
              </a:ext>
            </a:extLst>
          </p:cNvPr>
          <p:cNvSpPr>
            <a:spLocks noGrp="1"/>
          </p:cNvSpPr>
          <p:nvPr/>
        </p:nvSpPr>
        <p:spPr>
          <a:xfrm>
            <a:off x="685800" y="6210300"/>
            <a:ext cx="10077450" cy="304800"/>
          </a:xfrm>
          <a:prstGeom prst="rect">
            <a:avLst/>
          </a:prstGeom>
          <a:noFill/>
          <a:ln w="0">
            <a:noFill/>
          </a:ln>
        </p:spPr>
        <p:txBody>
          <a:bodyPr wrap="square" lIns="0" tIns="0" rIns="0" bIns="0" anchor="t">
            <a:noAutofit/>
          </a:bodyPr>
          <a:lstStyle>
            <a:defPPr algn="l">
              <a:defRPr sz="1200" b="0">
                <a:solidFill>
                  <a:srgbClr val="5A6B76"/>
                </a:solidFill>
                <a:latin typeface="DejaVu Sans"/>
                <a:ea typeface="DejaVu Sans"/>
                <a:cs typeface="DejaVu Sans"/>
              </a:defRPr>
            </a:defPPr>
          </a:lstStyle>
          <a:p>
            <a:pPr algn="l">
              <a:defRPr sz="1200" b="0">
                <a:solidFill>
                  <a:srgbClr val="5A6B76"/>
                </a:solidFill>
                <a:latin typeface="DejaVu Sans"/>
                <a:ea typeface="DejaVu Sans"/>
                <a:cs typeface="DejaVu Sans"/>
              </a:defRPr>
            </a:pPr>
            <a:r>
              <a:rPr sz="1200" b="0">
                <a:solidFill>
                  <a:srgbClr val="5A6B76"/>
                </a:solidFill>
                <a:latin typeface="DejaVu Sans"/>
                <a:ea typeface="DejaVu Sans"/>
                <a:cs typeface="DejaVu Sans"/>
              </a:rPr>
              <a:t>Sources: supplied lectures L01-L09. Specific PDF pages appear in speaker notes.</a:t>
            </a:r>
          </a:p>
        </p:txBody>
      </p:sp>
    </p:spTree>
    <p:extLst>
      <p:ext uri="{BB962C8B-B14F-4D97-AF65-F5344CB8AC3E}">
        <p14:creationId xmlns:p14="http://schemas.microsoft.com/office/powerpoint/2010/main" val="10249395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13" name="slide-title">
            <a:extLst>
              <a:ext uri="{FF2B5EF4-FFF2-40B4-BE49-F238E27FC236}">
                <a16:creationId xmlns:a16="http://schemas.microsoft.com/office/drawing/2014/main" id="{667AD60C-8876-4E5F-A3F8-EF4221F30D16}"/>
              </a:ext>
            </a:extLst>
          </p:cNvPr>
          <p:cNvSpPr>
            <a:spLocks noGrp="1"/>
          </p:cNvSpPr>
          <p:nvPr/>
        </p:nvSpPr>
        <p:spPr>
          <a:xfrm>
            <a:off x="685800" y="495300"/>
            <a:ext cx="10820400" cy="685800"/>
          </a:xfrm>
          <a:prstGeom prst="rect">
            <a:avLst/>
          </a:prstGeom>
          <a:noFill/>
          <a:ln w="0">
            <a:noFill/>
          </a:ln>
        </p:spPr>
        <p:txBody>
          <a:bodyPr wrap="square" lIns="0" tIns="0" rIns="0" bIns="0" anchor="t">
            <a:noAutofit/>
          </a:bodyPr>
          <a:lstStyle>
            <a:defPPr algn="l">
              <a:defRPr sz="3450" b="1">
                <a:solidFill>
                  <a:srgbClr val="102234"/>
                </a:solidFill>
                <a:latin typeface="DejaVu Sans"/>
                <a:ea typeface="DejaVu Sans"/>
                <a:cs typeface="DejaVu Sans"/>
              </a:defRPr>
            </a:defPPr>
          </a:lstStyle>
          <a:p>
            <a:pPr algn="l">
              <a:defRPr sz="3450" b="1">
                <a:solidFill>
                  <a:srgbClr val="102234"/>
                </a:solidFill>
                <a:latin typeface="DejaVu Sans"/>
                <a:ea typeface="DejaVu Sans"/>
                <a:cs typeface="DejaVu Sans"/>
              </a:defRPr>
            </a:pPr>
            <a:r>
              <a:rPr sz="3450" b="1" dirty="0">
                <a:solidFill>
                  <a:srgbClr val="102234"/>
                </a:solidFill>
                <a:latin typeface="DejaVu Sans"/>
                <a:ea typeface="DejaVu Sans"/>
                <a:cs typeface="DejaVu Sans"/>
              </a:rPr>
              <a:t>Behavior, </a:t>
            </a:r>
            <a:r>
              <a:rPr lang="en-US" sz="3450" b="1" dirty="0">
                <a:solidFill>
                  <a:srgbClr val="102234"/>
                </a:solidFill>
                <a:latin typeface="DejaVu Sans"/>
                <a:ea typeface="DejaVu Sans"/>
                <a:cs typeface="DejaVu Sans"/>
              </a:rPr>
              <a:t>U</a:t>
            </a:r>
            <a:r>
              <a:rPr sz="3450" b="1" dirty="0">
                <a:solidFill>
                  <a:srgbClr val="102234"/>
                </a:solidFill>
                <a:latin typeface="DejaVu Sans"/>
                <a:ea typeface="DejaVu Sans"/>
                <a:cs typeface="DejaVu Sans"/>
              </a:rPr>
              <a:t>ncertainty, and </a:t>
            </a:r>
            <a:r>
              <a:rPr lang="en-US" sz="3450" b="1" dirty="0">
                <a:solidFill>
                  <a:srgbClr val="102234"/>
                </a:solidFill>
                <a:latin typeface="DejaVu Sans"/>
                <a:ea typeface="DejaVu Sans"/>
                <a:cs typeface="DejaVu Sans"/>
              </a:rPr>
              <a:t>V</a:t>
            </a:r>
            <a:r>
              <a:rPr sz="3450" b="1" dirty="0">
                <a:solidFill>
                  <a:srgbClr val="102234"/>
                </a:solidFill>
                <a:latin typeface="DejaVu Sans"/>
                <a:ea typeface="DejaVu Sans"/>
                <a:cs typeface="DejaVu Sans"/>
              </a:rPr>
              <a:t>erification</a:t>
            </a:r>
          </a:p>
        </p:txBody>
      </p:sp>
      <p:sp>
        <p:nvSpPr>
          <p:cNvPr id="2" name="page-number">
            <a:extLst>
              <a:ext uri="{FF2B5EF4-FFF2-40B4-BE49-F238E27FC236}">
                <a16:creationId xmlns:a16="http://schemas.microsoft.com/office/drawing/2014/main" id="{F671A214-92B4-43CB-A719-C1C41BE76FEC}"/>
              </a:ext>
            </a:extLst>
          </p:cNvPr>
          <p:cNvSpPr>
            <a:spLocks noGrp="1"/>
          </p:cNvSpPr>
          <p:nvPr/>
        </p:nvSpPr>
        <p:spPr>
          <a:xfrm>
            <a:off x="11029950" y="6286500"/>
            <a:ext cx="476250" cy="209550"/>
          </a:xfrm>
          <a:prstGeom prst="rect">
            <a:avLst/>
          </a:prstGeom>
          <a:noFill/>
          <a:ln w="0">
            <a:noFill/>
          </a:ln>
        </p:spPr>
        <p:txBody>
          <a:bodyPr wrap="square" lIns="0" tIns="0" rIns="0" bIns="0" anchor="t">
            <a:noAutofit/>
          </a:bodyPr>
          <a:lstStyle>
            <a:defPPr algn="r">
              <a:defRPr sz="1200" b="0">
                <a:solidFill>
                  <a:srgbClr val="5A6B76"/>
                </a:solidFill>
                <a:latin typeface="DejaVu Sans"/>
                <a:ea typeface="DejaVu Sans"/>
                <a:cs typeface="DejaVu Sans"/>
              </a:defRPr>
            </a:defPPr>
          </a:lstStyle>
          <a:p>
            <a:pPr algn="r">
              <a:defRPr sz="1200" b="0">
                <a:solidFill>
                  <a:srgbClr val="5A6B76"/>
                </a:solidFill>
                <a:latin typeface="DejaVu Sans"/>
                <a:ea typeface="DejaVu Sans"/>
                <a:cs typeface="DejaVu Sans"/>
              </a:defRPr>
            </a:pPr>
            <a:r>
              <a:rPr sz="1200" b="0">
                <a:solidFill>
                  <a:srgbClr val="5A6B76"/>
                </a:solidFill>
                <a:latin typeface="DejaVu Sans"/>
                <a:ea typeface="DejaVu Sans"/>
                <a:cs typeface="DejaVu Sans"/>
              </a:rPr>
              <a:t>04</a:t>
            </a:r>
          </a:p>
        </p:txBody>
      </p:sp>
      <p:sp>
        <p:nvSpPr>
          <p:cNvPr id="3" name="continuous-heading">
            <a:extLst>
              <a:ext uri="{FF2B5EF4-FFF2-40B4-BE49-F238E27FC236}">
                <a16:creationId xmlns:a16="http://schemas.microsoft.com/office/drawing/2014/main" id="{C5484508-0FC4-44DA-AEF8-44FA88639DE7}"/>
              </a:ext>
            </a:extLst>
          </p:cNvPr>
          <p:cNvSpPr>
            <a:spLocks noGrp="1"/>
          </p:cNvSpPr>
          <p:nvPr/>
        </p:nvSpPr>
        <p:spPr>
          <a:xfrm>
            <a:off x="685800" y="1600200"/>
            <a:ext cx="5143500" cy="457200"/>
          </a:xfrm>
          <a:prstGeom prst="rect">
            <a:avLst/>
          </a:prstGeom>
          <a:noFill/>
          <a:ln w="0">
            <a:noFill/>
          </a:ln>
        </p:spPr>
        <p:txBody>
          <a:bodyPr wrap="square" lIns="0" tIns="0" rIns="0" bIns="0" anchor="t">
            <a:noAutofit/>
          </a:bodyPr>
          <a:lstStyle>
            <a:defPPr algn="l">
              <a:defRPr sz="2175" b="1">
                <a:solidFill>
                  <a:srgbClr val="126E73"/>
                </a:solidFill>
                <a:latin typeface="DejaVu Sans"/>
                <a:ea typeface="DejaVu Sans"/>
                <a:cs typeface="DejaVu Sans"/>
              </a:defRPr>
            </a:defPPr>
          </a:lstStyle>
          <a:p>
            <a:pPr algn="l">
              <a:defRPr sz="2175" b="1">
                <a:solidFill>
                  <a:srgbClr val="126E73"/>
                </a:solidFill>
                <a:latin typeface="DejaVu Sans"/>
                <a:ea typeface="DejaVu Sans"/>
                <a:cs typeface="DejaVu Sans"/>
              </a:defRPr>
            </a:pPr>
            <a:r>
              <a:rPr sz="2175" b="1">
                <a:solidFill>
                  <a:srgbClr val="126E73"/>
                </a:solidFill>
                <a:latin typeface="DejaVu Sans"/>
                <a:ea typeface="DejaVu Sans"/>
                <a:cs typeface="DejaVu Sans"/>
              </a:rPr>
              <a:t>Continuous state</a:t>
            </a:r>
          </a:p>
        </p:txBody>
      </p:sp>
      <p:sp>
        <p:nvSpPr>
          <p:cNvPr id="4" name="continuous-description">
            <a:extLst>
              <a:ext uri="{FF2B5EF4-FFF2-40B4-BE49-F238E27FC236}">
                <a16:creationId xmlns:a16="http://schemas.microsoft.com/office/drawing/2014/main" id="{6FA6DEC3-2F42-4117-8E9A-5B9E17568B78}"/>
              </a:ext>
            </a:extLst>
          </p:cNvPr>
          <p:cNvSpPr>
            <a:spLocks noGrp="1"/>
          </p:cNvSpPr>
          <p:nvPr/>
        </p:nvSpPr>
        <p:spPr>
          <a:xfrm>
            <a:off x="685800" y="2181225"/>
            <a:ext cx="5143500" cy="1066800"/>
          </a:xfrm>
          <a:prstGeom prst="rect">
            <a:avLst/>
          </a:prstGeom>
          <a:noFill/>
          <a:ln w="0">
            <a:noFill/>
          </a:ln>
        </p:spPr>
        <p:txBody>
          <a:bodyPr wrap="square" lIns="0" tIns="0" rIns="0" bIns="0" anchor="t">
            <a:noAutofit/>
          </a:bodyPr>
          <a:lstStyle>
            <a:defPPr algn="l">
              <a:defRPr sz="2025" b="0">
                <a:solidFill>
                  <a:srgbClr val="172F41"/>
                </a:solidFill>
                <a:latin typeface="DejaVu Sans"/>
                <a:ea typeface="DejaVu Sans"/>
                <a:cs typeface="DejaVu Sans"/>
              </a:defRPr>
            </a:defPPr>
          </a:lstStyle>
          <a:p>
            <a:pPr algn="l">
              <a:defRPr sz="2025" b="0">
                <a:solidFill>
                  <a:srgbClr val="172F41"/>
                </a:solidFill>
                <a:latin typeface="DejaVu Sans"/>
                <a:ea typeface="DejaVu Sans"/>
                <a:cs typeface="DejaVu Sans"/>
              </a:defRPr>
            </a:pPr>
            <a:r>
              <a:rPr sz="2025" b="0">
                <a:solidFill>
                  <a:srgbClr val="172F41"/>
                </a:solidFill>
                <a:latin typeface="DejaVu Sans"/>
                <a:ea typeface="DejaVu Sans"/>
                <a:cs typeface="DejaVu Sans"/>
              </a:rPr>
              <a:t>Position, velocity, and</a:t>
            </a:r>
          </a:p>
          <a:p>
            <a:pPr algn="l">
              <a:defRPr sz="2025" b="0">
                <a:solidFill>
                  <a:srgbClr val="172F41"/>
                </a:solidFill>
                <a:latin typeface="DejaVu Sans"/>
                <a:ea typeface="DejaVu Sans"/>
                <a:cs typeface="DejaVu Sans"/>
              </a:defRPr>
            </a:pPr>
            <a:r>
              <a:rPr sz="2025" b="0">
                <a:solidFill>
                  <a:srgbClr val="172F41"/>
                </a:solidFill>
                <a:latin typeface="DejaVu Sans"/>
                <a:ea typeface="DejaVu Sans"/>
                <a:cs typeface="DejaVu Sans"/>
              </a:rPr>
              <a:t>processor temperature</a:t>
            </a:r>
          </a:p>
        </p:txBody>
      </p:sp>
      <p:sp>
        <p:nvSpPr>
          <p:cNvPr id="5" name="hybrid-equation">
            <a:extLst>
              <a:ext uri="{FF2B5EF4-FFF2-40B4-BE49-F238E27FC236}">
                <a16:creationId xmlns:a16="http://schemas.microsoft.com/office/drawing/2014/main" id="{504024ED-7FC4-4A06-941E-3B2EE66A4BB3}"/>
              </a:ext>
            </a:extLst>
          </p:cNvPr>
          <p:cNvSpPr>
            <a:spLocks noGrp="1"/>
          </p:cNvSpPr>
          <p:nvPr/>
        </p:nvSpPr>
        <p:spPr>
          <a:xfrm>
            <a:off x="685800" y="3400425"/>
            <a:ext cx="5143500" cy="619125"/>
          </a:xfrm>
          <a:prstGeom prst="rect">
            <a:avLst/>
          </a:prstGeom>
          <a:noFill/>
          <a:ln w="0">
            <a:noFill/>
          </a:ln>
        </p:spPr>
        <p:txBody>
          <a:bodyPr wrap="square" lIns="0" tIns="0" rIns="0" bIns="0" anchor="t">
            <a:noAutofit/>
          </a:bodyPr>
          <a:lstStyle>
            <a:defPPr algn="l">
              <a:defRPr sz="2775" b="0">
                <a:solidFill>
                  <a:srgbClr val="102234"/>
                </a:solidFill>
                <a:latin typeface="DejaVu Sans"/>
                <a:ea typeface="DejaVu Sans"/>
                <a:cs typeface="DejaVu Sans"/>
              </a:defRPr>
            </a:defPPr>
          </a:lstStyle>
          <a:p>
            <a:pPr algn="l">
              <a:defRPr sz="2775" b="0">
                <a:solidFill>
                  <a:srgbClr val="102234"/>
                </a:solidFill>
                <a:latin typeface="DejaVu Sans"/>
                <a:ea typeface="DejaVu Sans"/>
                <a:cs typeface="DejaVu Sans"/>
              </a:defRPr>
            </a:pPr>
            <a:r>
              <a:rPr sz="2775" b="0">
                <a:solidFill>
                  <a:srgbClr val="102234"/>
                </a:solidFill>
                <a:latin typeface="DejaVu Sans"/>
                <a:ea typeface="DejaVu Sans"/>
                <a:cs typeface="DejaVu Sans"/>
              </a:rPr>
              <a:t>dx/dt = f(q, x, u)</a:t>
            </a:r>
          </a:p>
        </p:txBody>
      </p:sp>
      <p:sp>
        <p:nvSpPr>
          <p:cNvPr id="6" name="uncertainty-note">
            <a:extLst>
              <a:ext uri="{FF2B5EF4-FFF2-40B4-BE49-F238E27FC236}">
                <a16:creationId xmlns:a16="http://schemas.microsoft.com/office/drawing/2014/main" id="{66E55876-F76E-48E7-A503-4D18C0435481}"/>
              </a:ext>
            </a:extLst>
          </p:cNvPr>
          <p:cNvSpPr>
            <a:spLocks noGrp="1"/>
          </p:cNvSpPr>
          <p:nvPr/>
        </p:nvSpPr>
        <p:spPr>
          <a:xfrm>
            <a:off x="685800" y="4095750"/>
            <a:ext cx="5143500" cy="323850"/>
          </a:xfrm>
          <a:prstGeom prst="rect">
            <a:avLst/>
          </a:prstGeom>
          <a:noFill/>
          <a:ln w="0">
            <a:noFill/>
          </a:ln>
        </p:spPr>
        <p:txBody>
          <a:bodyPr wrap="square" lIns="0" tIns="0" rIns="0" bIns="0" anchor="t">
            <a:noAutofit/>
          </a:bodyPr>
          <a:lstStyle>
            <a:defPPr algn="l">
              <a:defRPr sz="1650" b="0">
                <a:solidFill>
                  <a:srgbClr val="5A6B76"/>
                </a:solidFill>
                <a:latin typeface="DejaVu Sans"/>
                <a:ea typeface="DejaVu Sans"/>
                <a:cs typeface="DejaVu Sans"/>
              </a:defRPr>
            </a:defPPr>
          </a:lstStyle>
          <a:p>
            <a:pPr algn="l">
              <a:defRPr sz="1650" b="0">
                <a:solidFill>
                  <a:srgbClr val="5A6B76"/>
                </a:solidFill>
                <a:latin typeface="DejaVu Sans"/>
                <a:ea typeface="DejaVu Sans"/>
                <a:cs typeface="DejaVu Sans"/>
              </a:defRPr>
            </a:pPr>
            <a:r>
              <a:rPr sz="1650" b="0">
                <a:solidFill>
                  <a:srgbClr val="5A6B76"/>
                </a:solidFill>
                <a:latin typeface="DejaVu Sans"/>
                <a:ea typeface="DejaVu Sans"/>
                <a:cs typeface="DejaVu Sans"/>
              </a:rPr>
              <a:t>Uncertainty: noise and model mismatch</a:t>
            </a:r>
          </a:p>
        </p:txBody>
      </p:sp>
      <p:sp>
        <p:nvSpPr>
          <p:cNvPr id="7" name="discrete-heading">
            <a:extLst>
              <a:ext uri="{FF2B5EF4-FFF2-40B4-BE49-F238E27FC236}">
                <a16:creationId xmlns:a16="http://schemas.microsoft.com/office/drawing/2014/main" id="{9342FDE2-9DD7-43AB-987F-2D90E342624C}"/>
              </a:ext>
            </a:extLst>
          </p:cNvPr>
          <p:cNvSpPr>
            <a:spLocks noGrp="1"/>
          </p:cNvSpPr>
          <p:nvPr/>
        </p:nvSpPr>
        <p:spPr>
          <a:xfrm>
            <a:off x="6572250" y="1600200"/>
            <a:ext cx="4933950" cy="457200"/>
          </a:xfrm>
          <a:prstGeom prst="rect">
            <a:avLst/>
          </a:prstGeom>
          <a:noFill/>
          <a:ln w="0">
            <a:noFill/>
          </a:ln>
        </p:spPr>
        <p:txBody>
          <a:bodyPr wrap="square" lIns="0" tIns="0" rIns="0" bIns="0" anchor="t">
            <a:noAutofit/>
          </a:bodyPr>
          <a:lstStyle>
            <a:defPPr algn="l">
              <a:defRPr sz="2175" b="1">
                <a:solidFill>
                  <a:srgbClr val="126E73"/>
                </a:solidFill>
                <a:latin typeface="DejaVu Sans"/>
                <a:ea typeface="DejaVu Sans"/>
                <a:cs typeface="DejaVu Sans"/>
              </a:defRPr>
            </a:defPPr>
          </a:lstStyle>
          <a:p>
            <a:pPr algn="l">
              <a:defRPr sz="2175" b="1">
                <a:solidFill>
                  <a:srgbClr val="126E73"/>
                </a:solidFill>
                <a:latin typeface="DejaVu Sans"/>
                <a:ea typeface="DejaVu Sans"/>
                <a:cs typeface="DejaVu Sans"/>
              </a:defRPr>
            </a:pPr>
            <a:r>
              <a:rPr sz="2175" b="1">
                <a:solidFill>
                  <a:srgbClr val="126E73"/>
                </a:solidFill>
                <a:latin typeface="DejaVu Sans"/>
                <a:ea typeface="DejaVu Sans"/>
                <a:cs typeface="DejaVu Sans"/>
              </a:rPr>
              <a:t>Discrete modes</a:t>
            </a:r>
          </a:p>
        </p:txBody>
      </p:sp>
      <p:sp>
        <p:nvSpPr>
          <p:cNvPr id="8" name="discrete-modes">
            <a:extLst>
              <a:ext uri="{FF2B5EF4-FFF2-40B4-BE49-F238E27FC236}">
                <a16:creationId xmlns:a16="http://schemas.microsoft.com/office/drawing/2014/main" id="{AE5DD0B5-C526-4536-8A17-1FBAEDB48B0D}"/>
              </a:ext>
            </a:extLst>
          </p:cNvPr>
          <p:cNvSpPr>
            <a:spLocks noGrp="1"/>
          </p:cNvSpPr>
          <p:nvPr/>
        </p:nvSpPr>
        <p:spPr>
          <a:xfrm>
            <a:off x="6572250" y="2181225"/>
            <a:ext cx="4933950" cy="1924050"/>
          </a:xfrm>
          <a:prstGeom prst="rect">
            <a:avLst/>
          </a:prstGeom>
          <a:noFill/>
          <a:ln w="0">
            <a:noFill/>
          </a:ln>
        </p:spPr>
        <p:txBody>
          <a:bodyPr wrap="square" lIns="0" tIns="0" rIns="0" bIns="0" anchor="t">
            <a:noAutofit/>
          </a:bodyPr>
          <a:lstStyle>
            <a:defPPr algn="l">
              <a:defRPr sz="2250" b="0">
                <a:solidFill>
                  <a:srgbClr val="172F41"/>
                </a:solidFill>
                <a:latin typeface="DejaVu Sans"/>
                <a:ea typeface="DejaVu Sans"/>
                <a:cs typeface="DejaVu Sans"/>
              </a:defRPr>
            </a:defPPr>
          </a:lstStyle>
          <a:p>
            <a:pPr algn="l">
              <a:defRPr sz="2250" b="0">
                <a:solidFill>
                  <a:srgbClr val="172F41"/>
                </a:solidFill>
                <a:latin typeface="DejaVu Sans"/>
                <a:ea typeface="DejaVu Sans"/>
                <a:cs typeface="DejaVu Sans"/>
              </a:defRPr>
            </a:pPr>
            <a:r>
              <a:rPr sz="2250" b="0">
                <a:solidFill>
                  <a:srgbClr val="172F41"/>
                </a:solidFill>
                <a:latin typeface="DejaVu Sans"/>
                <a:ea typeface="DejaVu Sans"/>
                <a:cs typeface="DejaVu Sans"/>
              </a:rPr>
              <a:t>Monitor</a:t>
            </a:r>
          </a:p>
          <a:p>
            <a:pPr algn="l">
              <a:defRPr sz="2250" b="0">
                <a:solidFill>
                  <a:srgbClr val="172F41"/>
                </a:solidFill>
                <a:latin typeface="DejaVu Sans"/>
                <a:ea typeface="DejaVu Sans"/>
                <a:cs typeface="DejaVu Sans"/>
              </a:defRPr>
            </a:pPr>
            <a:r>
              <a:rPr sz="2250" b="0">
                <a:solidFill>
                  <a:srgbClr val="172F41"/>
                </a:solidFill>
                <a:latin typeface="DejaVu Sans"/>
                <a:ea typeface="DejaVu Sans"/>
                <a:cs typeface="DejaVu Sans"/>
              </a:rPr>
              <a:t>Confirm</a:t>
            </a:r>
          </a:p>
          <a:p>
            <a:pPr algn="l">
              <a:defRPr sz="2250" b="0">
                <a:solidFill>
                  <a:srgbClr val="172F41"/>
                </a:solidFill>
                <a:latin typeface="DejaVu Sans"/>
                <a:ea typeface="DejaVu Sans"/>
                <a:cs typeface="DejaVu Sans"/>
              </a:defRPr>
            </a:pPr>
            <a:r>
              <a:rPr sz="2250" b="0">
                <a:solidFill>
                  <a:srgbClr val="172F41"/>
                </a:solidFill>
                <a:latin typeface="DejaVu Sans"/>
                <a:ea typeface="DejaVu Sans"/>
                <a:cs typeface="DejaVu Sans"/>
              </a:rPr>
              <a:t>Alert</a:t>
            </a:r>
          </a:p>
          <a:p>
            <a:pPr algn="l">
              <a:defRPr sz="2250" b="0">
                <a:solidFill>
                  <a:srgbClr val="172F41"/>
                </a:solidFill>
                <a:latin typeface="DejaVu Sans"/>
                <a:ea typeface="DejaVu Sans"/>
                <a:cs typeface="DejaVu Sans"/>
              </a:defRPr>
            </a:pPr>
            <a:r>
              <a:rPr sz="2250" b="0">
                <a:solidFill>
                  <a:srgbClr val="172F41"/>
                </a:solidFill>
                <a:latin typeface="DejaVu Sans"/>
                <a:ea typeface="DejaVu Sans"/>
                <a:cs typeface="DejaVu Sans"/>
              </a:rPr>
              <a:t>Degraded</a:t>
            </a:r>
          </a:p>
        </p:txBody>
      </p:sp>
      <p:sp>
        <p:nvSpPr>
          <p:cNvPr id="9" name="traceable-heading">
            <a:extLst>
              <a:ext uri="{FF2B5EF4-FFF2-40B4-BE49-F238E27FC236}">
                <a16:creationId xmlns:a16="http://schemas.microsoft.com/office/drawing/2014/main" id="{9BDC2ED6-9947-48A4-B60E-2B080AF74E69}"/>
              </a:ext>
            </a:extLst>
          </p:cNvPr>
          <p:cNvSpPr>
            <a:spLocks noGrp="1"/>
          </p:cNvSpPr>
          <p:nvPr/>
        </p:nvSpPr>
        <p:spPr>
          <a:xfrm>
            <a:off x="685800" y="4562475"/>
            <a:ext cx="10820400" cy="428625"/>
          </a:xfrm>
          <a:prstGeom prst="rect">
            <a:avLst/>
          </a:prstGeom>
          <a:noFill/>
          <a:ln w="0">
            <a:noFill/>
          </a:ln>
        </p:spPr>
        <p:txBody>
          <a:bodyPr wrap="square" lIns="0" tIns="0" rIns="0" bIns="0" anchor="t">
            <a:noAutofit/>
          </a:bodyPr>
          <a:lstStyle>
            <a:defPPr algn="l">
              <a:defRPr sz="2100" b="1">
                <a:solidFill>
                  <a:srgbClr val="102234"/>
                </a:solidFill>
                <a:latin typeface="DejaVu Sans"/>
                <a:ea typeface="DejaVu Sans"/>
                <a:cs typeface="DejaVu Sans"/>
              </a:defRPr>
            </a:defPPr>
          </a:lstStyle>
          <a:p>
            <a:pPr algn="l">
              <a:defRPr sz="2100" b="1">
                <a:solidFill>
                  <a:srgbClr val="102234"/>
                </a:solidFill>
                <a:latin typeface="DejaVu Sans"/>
                <a:ea typeface="DejaVu Sans"/>
                <a:cs typeface="DejaVu Sans"/>
              </a:defRPr>
            </a:pPr>
            <a:r>
              <a:rPr sz="2100" b="1">
                <a:solidFill>
                  <a:srgbClr val="102234"/>
                </a:solidFill>
                <a:latin typeface="DejaVu Sans"/>
                <a:ea typeface="DejaVu Sans"/>
                <a:cs typeface="DejaVu Sans"/>
              </a:rPr>
              <a:t>Example of a traceable requirement</a:t>
            </a:r>
          </a:p>
        </p:txBody>
      </p:sp>
      <p:sp>
        <p:nvSpPr>
          <p:cNvPr id="10" name="requirement">
            <a:extLst>
              <a:ext uri="{FF2B5EF4-FFF2-40B4-BE49-F238E27FC236}">
                <a16:creationId xmlns:a16="http://schemas.microsoft.com/office/drawing/2014/main" id="{EE7A13F0-B686-4FA6-9A8F-07DA43198ADE}"/>
              </a:ext>
            </a:extLst>
          </p:cNvPr>
          <p:cNvSpPr>
            <a:spLocks noGrp="1"/>
          </p:cNvSpPr>
          <p:nvPr/>
        </p:nvSpPr>
        <p:spPr>
          <a:xfrm>
            <a:off x="685800" y="5114925"/>
            <a:ext cx="10820400" cy="561975"/>
          </a:xfrm>
          <a:prstGeom prst="rect">
            <a:avLst/>
          </a:prstGeom>
          <a:noFill/>
          <a:ln w="0">
            <a:noFill/>
          </a:ln>
        </p:spPr>
        <p:txBody>
          <a:bodyPr wrap="square" lIns="0" tIns="0" rIns="0" bIns="0" anchor="t">
            <a:noAutofit/>
          </a:bodyPr>
          <a:lstStyle>
            <a:defPPr algn="l">
              <a:defRPr sz="1950" b="0">
                <a:solidFill>
                  <a:srgbClr val="172F41"/>
                </a:solidFill>
                <a:latin typeface="DejaVu Sans"/>
                <a:ea typeface="DejaVu Sans"/>
                <a:cs typeface="DejaVu Sans"/>
              </a:defRPr>
            </a:defPPr>
          </a:lstStyle>
          <a:p>
            <a:pPr algn="l">
              <a:defRPr sz="1950" b="0">
                <a:solidFill>
                  <a:srgbClr val="172F41"/>
                </a:solidFill>
                <a:latin typeface="DejaVu Sans"/>
                <a:ea typeface="DejaVu Sans"/>
                <a:cs typeface="DejaVu Sans"/>
              </a:defRPr>
            </a:pPr>
            <a:r>
              <a:rPr sz="1950" b="0">
                <a:solidFill>
                  <a:srgbClr val="172F41"/>
                </a:solidFill>
                <a:latin typeface="DejaVu Sans"/>
                <a:ea typeface="DejaVu Sans"/>
                <a:cs typeface="DejaVu Sans"/>
              </a:rPr>
              <a:t>The console must report sensor loss and mark affected tracks uncertain.</a:t>
            </a:r>
          </a:p>
        </p:txBody>
      </p:sp>
      <p:sp>
        <p:nvSpPr>
          <p:cNvPr id="11" name="test">
            <a:extLst>
              <a:ext uri="{FF2B5EF4-FFF2-40B4-BE49-F238E27FC236}">
                <a16:creationId xmlns:a16="http://schemas.microsoft.com/office/drawing/2014/main" id="{1310360A-C9C5-4442-B619-547350F4BDB9}"/>
              </a:ext>
            </a:extLst>
          </p:cNvPr>
          <p:cNvSpPr>
            <a:spLocks noGrp="1"/>
          </p:cNvSpPr>
          <p:nvPr/>
        </p:nvSpPr>
        <p:spPr>
          <a:xfrm>
            <a:off x="685800" y="5762625"/>
            <a:ext cx="10820400" cy="342900"/>
          </a:xfrm>
          <a:prstGeom prst="rect">
            <a:avLst/>
          </a:prstGeom>
          <a:noFill/>
          <a:ln w="0">
            <a:noFill/>
          </a:ln>
        </p:spPr>
        <p:txBody>
          <a:bodyPr wrap="square" lIns="0" tIns="0" rIns="0" bIns="0" anchor="t">
            <a:noAutofit/>
          </a:bodyPr>
          <a:lstStyle>
            <a:defPPr algn="l">
              <a:defRPr sz="1650" b="0">
                <a:solidFill>
                  <a:srgbClr val="5A6B76"/>
                </a:solidFill>
                <a:latin typeface="DejaVu Sans"/>
                <a:ea typeface="DejaVu Sans"/>
                <a:cs typeface="DejaVu Sans"/>
              </a:defRPr>
            </a:defPPr>
          </a:lstStyle>
          <a:p>
            <a:pPr algn="l">
              <a:defRPr sz="1650" b="0">
                <a:solidFill>
                  <a:srgbClr val="5A6B76"/>
                </a:solidFill>
                <a:latin typeface="DejaVu Sans"/>
                <a:ea typeface="DejaVu Sans"/>
                <a:cs typeface="DejaVu Sans"/>
              </a:defRPr>
            </a:pPr>
            <a:r>
              <a:rPr sz="1650" b="0">
                <a:solidFill>
                  <a:srgbClr val="5A6B76"/>
                </a:solidFill>
                <a:latin typeface="DejaVu Sans"/>
                <a:ea typeface="DejaVu Sans"/>
                <a:cs typeface="DejaVu Sans"/>
              </a:rPr>
              <a:t>Test: inject a missing sensor message and inspect the mode and display behavior.</a:t>
            </a:r>
          </a:p>
        </p:txBody>
      </p:sp>
      <p:sp>
        <p:nvSpPr>
          <p:cNvPr id="12" name="source-footnote">
            <a:extLst>
              <a:ext uri="{FF2B5EF4-FFF2-40B4-BE49-F238E27FC236}">
                <a16:creationId xmlns:a16="http://schemas.microsoft.com/office/drawing/2014/main" id="{F4FB1639-2F2E-46A1-B994-1BD1DC293701}"/>
              </a:ext>
            </a:extLst>
          </p:cNvPr>
          <p:cNvSpPr>
            <a:spLocks noGrp="1"/>
          </p:cNvSpPr>
          <p:nvPr/>
        </p:nvSpPr>
        <p:spPr>
          <a:xfrm>
            <a:off x="685800" y="6210300"/>
            <a:ext cx="10077450" cy="304800"/>
          </a:xfrm>
          <a:prstGeom prst="rect">
            <a:avLst/>
          </a:prstGeom>
          <a:noFill/>
          <a:ln w="0">
            <a:noFill/>
          </a:ln>
        </p:spPr>
        <p:txBody>
          <a:bodyPr wrap="square" lIns="0" tIns="0" rIns="0" bIns="0" anchor="t">
            <a:noAutofit/>
          </a:bodyPr>
          <a:lstStyle>
            <a:defPPr algn="l">
              <a:defRPr sz="1200" b="0">
                <a:solidFill>
                  <a:srgbClr val="5A6B76"/>
                </a:solidFill>
                <a:latin typeface="DejaVu Sans"/>
                <a:ea typeface="DejaVu Sans"/>
                <a:cs typeface="DejaVu Sans"/>
              </a:defRPr>
            </a:defPPr>
          </a:lstStyle>
          <a:p>
            <a:pPr algn="l">
              <a:defRPr sz="1200" b="0">
                <a:solidFill>
                  <a:srgbClr val="5A6B76"/>
                </a:solidFill>
                <a:latin typeface="DejaVu Sans"/>
                <a:ea typeface="DejaVu Sans"/>
                <a:cs typeface="DejaVu Sans"/>
              </a:defRPr>
            </a:pPr>
            <a:r>
              <a:rPr sz="1200" b="0">
                <a:solidFill>
                  <a:srgbClr val="5A6B76"/>
                </a:solidFill>
                <a:latin typeface="DejaVu Sans"/>
                <a:ea typeface="DejaVu Sans"/>
                <a:cs typeface="DejaVu Sans"/>
              </a:rPr>
              <a:t>Sources: L03, pp. 10 and 22. L07, pp. 13-15 and 23-25.</a:t>
            </a:r>
          </a:p>
        </p:txBody>
      </p:sp>
    </p:spTree>
    <p:extLst>
      <p:ext uri="{BB962C8B-B14F-4D97-AF65-F5344CB8AC3E}">
        <p14:creationId xmlns:p14="http://schemas.microsoft.com/office/powerpoint/2010/main" val="19164276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13" name="slide-title">
            <a:extLst>
              <a:ext uri="{FF2B5EF4-FFF2-40B4-BE49-F238E27FC236}">
                <a16:creationId xmlns:a16="http://schemas.microsoft.com/office/drawing/2014/main" id="{A323A2D1-3C94-4DF4-8D9E-FAA7198B7997}"/>
              </a:ext>
            </a:extLst>
          </p:cNvPr>
          <p:cNvSpPr>
            <a:spLocks noGrp="1"/>
          </p:cNvSpPr>
          <p:nvPr/>
        </p:nvSpPr>
        <p:spPr>
          <a:xfrm>
            <a:off x="685800" y="495300"/>
            <a:ext cx="10820400" cy="685800"/>
          </a:xfrm>
          <a:prstGeom prst="rect">
            <a:avLst/>
          </a:prstGeom>
          <a:noFill/>
          <a:ln w="0">
            <a:noFill/>
          </a:ln>
        </p:spPr>
        <p:txBody>
          <a:bodyPr wrap="square" lIns="0" tIns="0" rIns="0" bIns="0" anchor="t">
            <a:noAutofit/>
          </a:bodyPr>
          <a:lstStyle>
            <a:defPPr algn="l">
              <a:defRPr sz="3450" b="1">
                <a:solidFill>
                  <a:srgbClr val="102234"/>
                </a:solidFill>
                <a:latin typeface="DejaVu Sans"/>
                <a:ea typeface="DejaVu Sans"/>
                <a:cs typeface="DejaVu Sans"/>
              </a:defRPr>
            </a:defPPr>
          </a:lstStyle>
          <a:p>
            <a:pPr algn="l">
              <a:defRPr sz="3450" b="1">
                <a:solidFill>
                  <a:srgbClr val="102234"/>
                </a:solidFill>
                <a:latin typeface="DejaVu Sans"/>
                <a:ea typeface="DejaVu Sans"/>
                <a:cs typeface="DejaVu Sans"/>
              </a:defRPr>
            </a:pPr>
            <a:r>
              <a:rPr sz="3450" b="1" dirty="0">
                <a:solidFill>
                  <a:srgbClr val="102234"/>
                </a:solidFill>
                <a:latin typeface="DejaVu Sans"/>
                <a:ea typeface="DejaVu Sans"/>
                <a:cs typeface="DejaVu Sans"/>
              </a:rPr>
              <a:t>Design </a:t>
            </a:r>
            <a:r>
              <a:rPr lang="en-US" sz="3450" b="1" dirty="0">
                <a:solidFill>
                  <a:srgbClr val="102234"/>
                </a:solidFill>
                <a:latin typeface="DejaVu Sans"/>
                <a:ea typeface="DejaVu Sans"/>
                <a:cs typeface="DejaVu Sans"/>
              </a:rPr>
              <a:t>T</a:t>
            </a:r>
            <a:r>
              <a:rPr sz="3450" b="1" dirty="0">
                <a:solidFill>
                  <a:srgbClr val="102234"/>
                </a:solidFill>
                <a:latin typeface="DejaVu Sans"/>
                <a:ea typeface="DejaVu Sans"/>
                <a:cs typeface="DejaVu Sans"/>
              </a:rPr>
              <a:t>radeoffs and AI-</a:t>
            </a:r>
            <a:r>
              <a:rPr lang="en-US" sz="3450" b="1" dirty="0">
                <a:solidFill>
                  <a:srgbClr val="102234"/>
                </a:solidFill>
                <a:latin typeface="DejaVu Sans"/>
                <a:ea typeface="DejaVu Sans"/>
                <a:cs typeface="DejaVu Sans"/>
              </a:rPr>
              <a:t>A</a:t>
            </a:r>
            <a:r>
              <a:rPr sz="3450" b="1" dirty="0">
                <a:solidFill>
                  <a:srgbClr val="102234"/>
                </a:solidFill>
                <a:latin typeface="DejaVu Sans"/>
                <a:ea typeface="DejaVu Sans"/>
                <a:cs typeface="DejaVu Sans"/>
              </a:rPr>
              <a:t>ssisted </a:t>
            </a:r>
            <a:r>
              <a:rPr lang="en-US" sz="3450" b="1" dirty="0">
                <a:solidFill>
                  <a:srgbClr val="102234"/>
                </a:solidFill>
                <a:latin typeface="DejaVu Sans"/>
                <a:ea typeface="DejaVu Sans"/>
                <a:cs typeface="DejaVu Sans"/>
              </a:rPr>
              <a:t>A</a:t>
            </a:r>
            <a:r>
              <a:rPr sz="3450" b="1" dirty="0">
                <a:solidFill>
                  <a:srgbClr val="102234"/>
                </a:solidFill>
                <a:latin typeface="DejaVu Sans"/>
                <a:ea typeface="DejaVu Sans"/>
                <a:cs typeface="DejaVu Sans"/>
              </a:rPr>
              <a:t>nalysis</a:t>
            </a:r>
          </a:p>
        </p:txBody>
      </p:sp>
      <p:sp>
        <p:nvSpPr>
          <p:cNvPr id="2" name="page-number">
            <a:extLst>
              <a:ext uri="{FF2B5EF4-FFF2-40B4-BE49-F238E27FC236}">
                <a16:creationId xmlns:a16="http://schemas.microsoft.com/office/drawing/2014/main" id="{32FDCD84-1719-4D6F-A015-BF2AEAF2AC95}"/>
              </a:ext>
            </a:extLst>
          </p:cNvPr>
          <p:cNvSpPr>
            <a:spLocks noGrp="1"/>
          </p:cNvSpPr>
          <p:nvPr/>
        </p:nvSpPr>
        <p:spPr>
          <a:xfrm>
            <a:off x="11029950" y="6286500"/>
            <a:ext cx="476250" cy="209550"/>
          </a:xfrm>
          <a:prstGeom prst="rect">
            <a:avLst/>
          </a:prstGeom>
          <a:noFill/>
          <a:ln w="0">
            <a:noFill/>
          </a:ln>
        </p:spPr>
        <p:txBody>
          <a:bodyPr wrap="square" lIns="0" tIns="0" rIns="0" bIns="0" anchor="t">
            <a:noAutofit/>
          </a:bodyPr>
          <a:lstStyle>
            <a:defPPr algn="r">
              <a:defRPr sz="1200" b="0">
                <a:solidFill>
                  <a:srgbClr val="5A6B76"/>
                </a:solidFill>
                <a:latin typeface="DejaVu Sans"/>
                <a:ea typeface="DejaVu Sans"/>
                <a:cs typeface="DejaVu Sans"/>
              </a:defRPr>
            </a:defPPr>
          </a:lstStyle>
          <a:p>
            <a:pPr algn="r">
              <a:defRPr sz="1200" b="0">
                <a:solidFill>
                  <a:srgbClr val="5A6B76"/>
                </a:solidFill>
                <a:latin typeface="DejaVu Sans"/>
                <a:ea typeface="DejaVu Sans"/>
                <a:cs typeface="DejaVu Sans"/>
              </a:defRPr>
            </a:pPr>
            <a:r>
              <a:rPr sz="1200" b="0">
                <a:solidFill>
                  <a:srgbClr val="5A6B76"/>
                </a:solidFill>
                <a:latin typeface="DejaVu Sans"/>
                <a:ea typeface="DejaVu Sans"/>
                <a:cs typeface="DejaVu Sans"/>
              </a:rPr>
              <a:t>05</a:t>
            </a:r>
          </a:p>
        </p:txBody>
      </p:sp>
      <p:sp>
        <p:nvSpPr>
          <p:cNvPr id="3" name="choices-heading">
            <a:extLst>
              <a:ext uri="{FF2B5EF4-FFF2-40B4-BE49-F238E27FC236}">
                <a16:creationId xmlns:a16="http://schemas.microsoft.com/office/drawing/2014/main" id="{02E6FE12-BDF0-409C-85FE-6117B05D1896}"/>
              </a:ext>
            </a:extLst>
          </p:cNvPr>
          <p:cNvSpPr>
            <a:spLocks noGrp="1"/>
          </p:cNvSpPr>
          <p:nvPr/>
        </p:nvSpPr>
        <p:spPr>
          <a:xfrm>
            <a:off x="685800" y="1638300"/>
            <a:ext cx="5029200" cy="419100"/>
          </a:xfrm>
          <a:prstGeom prst="rect">
            <a:avLst/>
          </a:prstGeom>
          <a:noFill/>
          <a:ln w="0">
            <a:noFill/>
          </a:ln>
        </p:spPr>
        <p:txBody>
          <a:bodyPr wrap="square" lIns="0" tIns="0" rIns="0" bIns="0" anchor="t">
            <a:noAutofit/>
          </a:bodyPr>
          <a:lstStyle>
            <a:defPPr algn="l">
              <a:defRPr sz="2175" b="1">
                <a:solidFill>
                  <a:srgbClr val="126E73"/>
                </a:solidFill>
                <a:latin typeface="DejaVu Sans"/>
                <a:ea typeface="DejaVu Sans"/>
                <a:cs typeface="DejaVu Sans"/>
              </a:defRPr>
            </a:defPPr>
          </a:lstStyle>
          <a:p>
            <a:pPr algn="l">
              <a:defRPr sz="2175" b="1">
                <a:solidFill>
                  <a:srgbClr val="126E73"/>
                </a:solidFill>
                <a:latin typeface="DejaVu Sans"/>
                <a:ea typeface="DejaVu Sans"/>
                <a:cs typeface="DejaVu Sans"/>
              </a:defRPr>
            </a:pPr>
            <a:r>
              <a:rPr sz="2175" b="1">
                <a:solidFill>
                  <a:srgbClr val="126E73"/>
                </a:solidFill>
                <a:latin typeface="DejaVu Sans"/>
                <a:ea typeface="DejaVu Sans"/>
                <a:cs typeface="DejaVu Sans"/>
              </a:rPr>
              <a:t>Design choices</a:t>
            </a:r>
          </a:p>
        </p:txBody>
      </p:sp>
      <p:sp>
        <p:nvSpPr>
          <p:cNvPr id="4" name="choices">
            <a:extLst>
              <a:ext uri="{FF2B5EF4-FFF2-40B4-BE49-F238E27FC236}">
                <a16:creationId xmlns:a16="http://schemas.microsoft.com/office/drawing/2014/main" id="{AEC5141F-BC13-4D2A-BA9B-BB855354F9D5}"/>
              </a:ext>
            </a:extLst>
          </p:cNvPr>
          <p:cNvSpPr>
            <a:spLocks noGrp="1"/>
          </p:cNvSpPr>
          <p:nvPr/>
        </p:nvSpPr>
        <p:spPr>
          <a:xfrm>
            <a:off x="685800" y="2209800"/>
            <a:ext cx="5029200" cy="1304925"/>
          </a:xfrm>
          <a:prstGeom prst="rect">
            <a:avLst/>
          </a:prstGeom>
          <a:noFill/>
          <a:ln w="0">
            <a:noFill/>
          </a:ln>
        </p:spPr>
        <p:txBody>
          <a:bodyPr wrap="square" lIns="0" tIns="0" rIns="0" bIns="0" anchor="t">
            <a:noAutofit/>
          </a:bodyPr>
          <a:lstStyle>
            <a:defPPr algn="l">
              <a:defRPr sz="1950" b="0">
                <a:solidFill>
                  <a:srgbClr val="172F41"/>
                </a:solidFill>
                <a:latin typeface="DejaVu Sans"/>
                <a:ea typeface="DejaVu Sans"/>
                <a:cs typeface="DejaVu Sans"/>
              </a:defRPr>
            </a:defPPr>
          </a:lstStyle>
          <a:p>
            <a:pPr algn="l">
              <a:defRPr sz="1950" b="0">
                <a:solidFill>
                  <a:srgbClr val="172F41"/>
                </a:solidFill>
                <a:latin typeface="DejaVu Sans"/>
                <a:ea typeface="DejaVu Sans"/>
                <a:cs typeface="DejaVu Sans"/>
              </a:defRPr>
            </a:pPr>
            <a:r>
              <a:rPr sz="1950" b="0">
                <a:solidFill>
                  <a:srgbClr val="172F41"/>
                </a:solidFill>
                <a:latin typeface="DejaVu Sans"/>
                <a:ea typeface="DejaVu Sans"/>
                <a:cs typeface="DejaVu Sans"/>
              </a:rPr>
              <a:t>Sensor combination</a:t>
            </a:r>
          </a:p>
          <a:p>
            <a:pPr algn="l">
              <a:defRPr sz="1950" b="0">
                <a:solidFill>
                  <a:srgbClr val="172F41"/>
                </a:solidFill>
                <a:latin typeface="DejaVu Sans"/>
                <a:ea typeface="DejaVu Sans"/>
                <a:cs typeface="DejaVu Sans"/>
              </a:defRPr>
            </a:pPr>
            <a:r>
              <a:rPr sz="1950" b="0">
                <a:solidFill>
                  <a:srgbClr val="172F41"/>
                </a:solidFill>
                <a:latin typeface="DejaVu Sans"/>
                <a:ea typeface="DejaVu Sans"/>
                <a:cs typeface="DejaVu Sans"/>
              </a:rPr>
              <a:t>Computing platform</a:t>
            </a:r>
          </a:p>
          <a:p>
            <a:pPr algn="l">
              <a:defRPr sz="1950" b="0">
                <a:solidFill>
                  <a:srgbClr val="172F41"/>
                </a:solidFill>
                <a:latin typeface="DejaVu Sans"/>
                <a:ea typeface="DejaVu Sans"/>
                <a:cs typeface="DejaVu Sans"/>
              </a:defRPr>
            </a:pPr>
            <a:r>
              <a:rPr sz="1950" b="0">
                <a:solidFill>
                  <a:srgbClr val="172F41"/>
                </a:solidFill>
                <a:latin typeface="DejaVu Sans"/>
                <a:ea typeface="DejaVu Sans"/>
                <a:cs typeface="DejaVu Sans"/>
              </a:rPr>
              <a:t>Sensor mount / enclosure</a:t>
            </a:r>
          </a:p>
        </p:txBody>
      </p:sp>
      <p:sp>
        <p:nvSpPr>
          <p:cNvPr id="5" name="constraints-heading">
            <a:extLst>
              <a:ext uri="{FF2B5EF4-FFF2-40B4-BE49-F238E27FC236}">
                <a16:creationId xmlns:a16="http://schemas.microsoft.com/office/drawing/2014/main" id="{A21618AE-D8B1-4FAD-BA3E-B8C1DCD80CAF}"/>
              </a:ext>
            </a:extLst>
          </p:cNvPr>
          <p:cNvSpPr>
            <a:spLocks noGrp="1"/>
          </p:cNvSpPr>
          <p:nvPr/>
        </p:nvSpPr>
        <p:spPr>
          <a:xfrm>
            <a:off x="685800" y="3810000"/>
            <a:ext cx="5029200" cy="428625"/>
          </a:xfrm>
          <a:prstGeom prst="rect">
            <a:avLst/>
          </a:prstGeom>
          <a:noFill/>
          <a:ln w="0">
            <a:noFill/>
          </a:ln>
        </p:spPr>
        <p:txBody>
          <a:bodyPr wrap="square" lIns="0" tIns="0" rIns="0" bIns="0" anchor="t">
            <a:noAutofit/>
          </a:bodyPr>
          <a:lstStyle>
            <a:defPPr algn="l">
              <a:defRPr sz="2100" b="1">
                <a:solidFill>
                  <a:srgbClr val="126E73"/>
                </a:solidFill>
                <a:latin typeface="DejaVu Sans"/>
                <a:ea typeface="DejaVu Sans"/>
                <a:cs typeface="DejaVu Sans"/>
              </a:defRPr>
            </a:defPPr>
          </a:lstStyle>
          <a:p>
            <a:pPr algn="l">
              <a:defRPr sz="2100" b="1">
                <a:solidFill>
                  <a:srgbClr val="126E73"/>
                </a:solidFill>
                <a:latin typeface="DejaVu Sans"/>
                <a:ea typeface="DejaVu Sans"/>
                <a:cs typeface="DejaVu Sans"/>
              </a:defRPr>
            </a:pPr>
            <a:r>
              <a:rPr sz="2100" b="1">
                <a:solidFill>
                  <a:srgbClr val="126E73"/>
                </a:solidFill>
                <a:latin typeface="DejaVu Sans"/>
                <a:ea typeface="DejaVu Sans"/>
                <a:cs typeface="DejaVu Sans"/>
              </a:rPr>
              <a:t>Feasibility constraints</a:t>
            </a:r>
          </a:p>
        </p:txBody>
      </p:sp>
      <p:sp>
        <p:nvSpPr>
          <p:cNvPr id="6" name="constraints">
            <a:extLst>
              <a:ext uri="{FF2B5EF4-FFF2-40B4-BE49-F238E27FC236}">
                <a16:creationId xmlns:a16="http://schemas.microsoft.com/office/drawing/2014/main" id="{A6601101-2B92-4856-82DE-FA5F406B9D44}"/>
              </a:ext>
            </a:extLst>
          </p:cNvPr>
          <p:cNvSpPr>
            <a:spLocks noGrp="1"/>
          </p:cNvSpPr>
          <p:nvPr/>
        </p:nvSpPr>
        <p:spPr>
          <a:xfrm>
            <a:off x="685800" y="4371975"/>
            <a:ext cx="5029200" cy="1238250"/>
          </a:xfrm>
          <a:prstGeom prst="rect">
            <a:avLst/>
          </a:prstGeom>
          <a:noFill/>
          <a:ln w="0">
            <a:noFill/>
          </a:ln>
        </p:spPr>
        <p:txBody>
          <a:bodyPr wrap="square" lIns="0" tIns="0" rIns="0" bIns="0" anchor="t">
            <a:noAutofit/>
          </a:bodyPr>
          <a:lstStyle>
            <a:defPPr algn="l">
              <a:defRPr sz="1800" b="0">
                <a:solidFill>
                  <a:srgbClr val="172F41"/>
                </a:solidFill>
                <a:latin typeface="DejaVu Sans"/>
                <a:ea typeface="DejaVu Sans"/>
                <a:cs typeface="DejaVu Sans"/>
              </a:defRPr>
            </a:defPPr>
          </a:lstStyle>
          <a:p>
            <a:pPr algn="l">
              <a:defRPr sz="1800" b="0">
                <a:solidFill>
                  <a:srgbClr val="172F41"/>
                </a:solidFill>
                <a:latin typeface="DejaVu Sans"/>
                <a:ea typeface="DejaVu Sans"/>
                <a:cs typeface="DejaVu Sans"/>
              </a:defRPr>
            </a:pPr>
            <a:r>
              <a:rPr sz="1800" b="0">
                <a:solidFill>
                  <a:srgbClr val="172F41"/>
                </a:solidFill>
                <a:latin typeface="DejaVu Sans"/>
                <a:ea typeface="DejaVu Sans"/>
                <a:cs typeface="DejaVu Sans"/>
              </a:rPr>
              <a:t>Power budget and thermal limits</a:t>
            </a:r>
          </a:p>
          <a:p>
            <a:pPr algn="l">
              <a:defRPr sz="1800" b="0">
                <a:solidFill>
                  <a:srgbClr val="172F41"/>
                </a:solidFill>
                <a:latin typeface="DejaVu Sans"/>
                <a:ea typeface="DejaVu Sans"/>
                <a:cs typeface="DejaVu Sans"/>
              </a:defRPr>
            </a:pPr>
            <a:r>
              <a:rPr sz="1800" b="0">
                <a:solidFill>
                  <a:srgbClr val="172F41"/>
                </a:solidFill>
                <a:latin typeface="DejaVu Sans"/>
                <a:ea typeface="DejaVu Sans"/>
                <a:cs typeface="DejaVu Sans"/>
              </a:rPr>
              <a:t>Interface compatibility and timing</a:t>
            </a:r>
          </a:p>
          <a:p>
            <a:pPr algn="l">
              <a:defRPr sz="1800" b="0">
                <a:solidFill>
                  <a:srgbClr val="172F41"/>
                </a:solidFill>
                <a:latin typeface="DejaVu Sans"/>
                <a:ea typeface="DejaVu Sans"/>
                <a:cs typeface="DejaVu Sans"/>
              </a:defRPr>
            </a:pPr>
            <a:r>
              <a:rPr sz="1800" b="0">
                <a:solidFill>
                  <a:srgbClr val="172F41"/>
                </a:solidFill>
                <a:latin typeface="DejaVu Sans"/>
                <a:ea typeface="DejaVu Sans"/>
                <a:cs typeface="DejaVu Sans"/>
              </a:rPr>
              <a:t>Structural and vibration limits</a:t>
            </a:r>
          </a:p>
        </p:txBody>
      </p:sp>
      <p:sp>
        <p:nvSpPr>
          <p:cNvPr id="7" name="coupling-heading">
            <a:extLst>
              <a:ext uri="{FF2B5EF4-FFF2-40B4-BE49-F238E27FC236}">
                <a16:creationId xmlns:a16="http://schemas.microsoft.com/office/drawing/2014/main" id="{02FB746C-C062-4604-B6D7-DBBC487F29A3}"/>
              </a:ext>
            </a:extLst>
          </p:cNvPr>
          <p:cNvSpPr>
            <a:spLocks noGrp="1"/>
          </p:cNvSpPr>
          <p:nvPr/>
        </p:nvSpPr>
        <p:spPr>
          <a:xfrm>
            <a:off x="6572250" y="1638300"/>
            <a:ext cx="4933950" cy="419100"/>
          </a:xfrm>
          <a:prstGeom prst="rect">
            <a:avLst/>
          </a:prstGeom>
          <a:noFill/>
          <a:ln w="0">
            <a:noFill/>
          </a:ln>
        </p:spPr>
        <p:txBody>
          <a:bodyPr wrap="square" lIns="0" tIns="0" rIns="0" bIns="0" anchor="t">
            <a:noAutofit/>
          </a:bodyPr>
          <a:lstStyle>
            <a:defPPr algn="l">
              <a:defRPr sz="2175" b="1">
                <a:solidFill>
                  <a:srgbClr val="126E73"/>
                </a:solidFill>
                <a:latin typeface="DejaVu Sans"/>
                <a:ea typeface="DejaVu Sans"/>
                <a:cs typeface="DejaVu Sans"/>
              </a:defRPr>
            </a:defPPr>
          </a:lstStyle>
          <a:p>
            <a:pPr algn="l">
              <a:defRPr sz="2175" b="1">
                <a:solidFill>
                  <a:srgbClr val="126E73"/>
                </a:solidFill>
                <a:latin typeface="DejaVu Sans"/>
                <a:ea typeface="DejaVu Sans"/>
                <a:cs typeface="DejaVu Sans"/>
              </a:defRPr>
            </a:pPr>
            <a:r>
              <a:rPr sz="2175" b="1">
                <a:solidFill>
                  <a:srgbClr val="126E73"/>
                </a:solidFill>
                <a:latin typeface="DejaVu Sans"/>
                <a:ea typeface="DejaVu Sans"/>
                <a:cs typeface="DejaVu Sans"/>
              </a:rPr>
              <a:t>Coupled analysis</a:t>
            </a:r>
          </a:p>
        </p:txBody>
      </p:sp>
      <p:sp>
        <p:nvSpPr>
          <p:cNvPr id="8" name="coupling">
            <a:extLst>
              <a:ext uri="{FF2B5EF4-FFF2-40B4-BE49-F238E27FC236}">
                <a16:creationId xmlns:a16="http://schemas.microsoft.com/office/drawing/2014/main" id="{1D1FEF46-B398-47A1-ADD1-37ED738BAE19}"/>
              </a:ext>
            </a:extLst>
          </p:cNvPr>
          <p:cNvSpPr>
            <a:spLocks noGrp="1"/>
          </p:cNvSpPr>
          <p:nvPr/>
        </p:nvSpPr>
        <p:spPr>
          <a:xfrm>
            <a:off x="6572250" y="2209800"/>
            <a:ext cx="4933950" cy="1304925"/>
          </a:xfrm>
          <a:prstGeom prst="rect">
            <a:avLst/>
          </a:prstGeom>
          <a:noFill/>
          <a:ln w="0">
            <a:noFill/>
          </a:ln>
        </p:spPr>
        <p:txBody>
          <a:bodyPr wrap="square" lIns="0" tIns="0" rIns="0" bIns="0" anchor="t">
            <a:noAutofit/>
          </a:bodyPr>
          <a:lstStyle>
            <a:defPPr algn="l">
              <a:defRPr sz="1875" b="0">
                <a:solidFill>
                  <a:srgbClr val="172F41"/>
                </a:solidFill>
                <a:latin typeface="DejaVu Sans"/>
                <a:ea typeface="DejaVu Sans"/>
                <a:cs typeface="DejaVu Sans"/>
              </a:defRPr>
            </a:defPPr>
          </a:lstStyle>
          <a:p>
            <a:pPr algn="l">
              <a:defRPr sz="1875" b="0">
                <a:solidFill>
                  <a:srgbClr val="172F41"/>
                </a:solidFill>
                <a:latin typeface="DejaVu Sans"/>
                <a:ea typeface="DejaVu Sans"/>
                <a:cs typeface="DejaVu Sans"/>
              </a:defRPr>
            </a:pPr>
            <a:r>
              <a:rPr sz="1875" b="0">
                <a:solidFill>
                  <a:srgbClr val="172F41"/>
                </a:solidFill>
                <a:latin typeface="DejaVu Sans"/>
                <a:ea typeface="DejaVu Sans"/>
                <a:cs typeface="DejaVu Sans"/>
              </a:rPr>
              <a:t>Computing changes power and heat.</a:t>
            </a:r>
          </a:p>
          <a:p>
            <a:pPr algn="l">
              <a:defRPr sz="1875" b="0">
                <a:solidFill>
                  <a:srgbClr val="172F41"/>
                </a:solidFill>
                <a:latin typeface="DejaVu Sans"/>
                <a:ea typeface="DejaVu Sans"/>
                <a:cs typeface="DejaVu Sans"/>
              </a:defRPr>
            </a:pPr>
            <a:r>
              <a:rPr sz="1875" b="0">
                <a:solidFill>
                  <a:srgbClr val="172F41"/>
                </a:solidFill>
                <a:latin typeface="DejaVu Sans"/>
                <a:ea typeface="DejaVu Sans"/>
                <a:cs typeface="DejaVu Sans"/>
              </a:rPr>
              <a:t>Mounting changes vibration,</a:t>
            </a:r>
          </a:p>
          <a:p>
            <a:pPr algn="l">
              <a:defRPr sz="1875" b="0">
                <a:solidFill>
                  <a:srgbClr val="172F41"/>
                </a:solidFill>
                <a:latin typeface="DejaVu Sans"/>
                <a:ea typeface="DejaVu Sans"/>
                <a:cs typeface="DejaVu Sans"/>
              </a:defRPr>
            </a:pPr>
            <a:r>
              <a:rPr sz="1875" b="0">
                <a:solidFill>
                  <a:srgbClr val="172F41"/>
                </a:solidFill>
                <a:latin typeface="DejaVu Sans"/>
                <a:ea typeface="DejaVu Sans"/>
                <a:cs typeface="DejaVu Sans"/>
              </a:rPr>
              <a:t>which can affect measurements.</a:t>
            </a:r>
          </a:p>
        </p:txBody>
      </p:sp>
      <p:sp>
        <p:nvSpPr>
          <p:cNvPr id="9" name="ai-heading">
            <a:extLst>
              <a:ext uri="{FF2B5EF4-FFF2-40B4-BE49-F238E27FC236}">
                <a16:creationId xmlns:a16="http://schemas.microsoft.com/office/drawing/2014/main" id="{DA29521C-9BE5-4B16-8DE5-FCA3703EA936}"/>
              </a:ext>
            </a:extLst>
          </p:cNvPr>
          <p:cNvSpPr>
            <a:spLocks noGrp="1"/>
          </p:cNvSpPr>
          <p:nvPr/>
        </p:nvSpPr>
        <p:spPr>
          <a:xfrm>
            <a:off x="6572250" y="3810000"/>
            <a:ext cx="4933950" cy="428625"/>
          </a:xfrm>
          <a:prstGeom prst="rect">
            <a:avLst/>
          </a:prstGeom>
          <a:noFill/>
          <a:ln w="0">
            <a:noFill/>
          </a:ln>
        </p:spPr>
        <p:txBody>
          <a:bodyPr wrap="square" lIns="0" tIns="0" rIns="0" bIns="0" anchor="t">
            <a:noAutofit/>
          </a:bodyPr>
          <a:lstStyle>
            <a:defPPr algn="l">
              <a:defRPr sz="2100" b="1">
                <a:solidFill>
                  <a:srgbClr val="126E73"/>
                </a:solidFill>
                <a:latin typeface="DejaVu Sans"/>
                <a:ea typeface="DejaVu Sans"/>
                <a:cs typeface="DejaVu Sans"/>
              </a:defRPr>
            </a:defPPr>
          </a:lstStyle>
          <a:p>
            <a:pPr algn="l">
              <a:defRPr sz="2100" b="1">
                <a:solidFill>
                  <a:srgbClr val="126E73"/>
                </a:solidFill>
                <a:latin typeface="DejaVu Sans"/>
                <a:ea typeface="DejaVu Sans"/>
                <a:cs typeface="DejaVu Sans"/>
              </a:defRPr>
            </a:pPr>
            <a:r>
              <a:rPr sz="2100" b="1">
                <a:solidFill>
                  <a:srgbClr val="126E73"/>
                </a:solidFill>
                <a:latin typeface="DejaVu Sans"/>
                <a:ea typeface="DejaVu Sans"/>
                <a:cs typeface="DejaVu Sans"/>
              </a:rPr>
              <a:t>AI-assisted evaluation</a:t>
            </a:r>
          </a:p>
        </p:txBody>
      </p:sp>
      <p:sp>
        <p:nvSpPr>
          <p:cNvPr id="10" name="ai-role">
            <a:extLst>
              <a:ext uri="{FF2B5EF4-FFF2-40B4-BE49-F238E27FC236}">
                <a16:creationId xmlns:a16="http://schemas.microsoft.com/office/drawing/2014/main" id="{12E7ADBC-02E7-433B-A7A6-D9107EDD4A42}"/>
              </a:ext>
            </a:extLst>
          </p:cNvPr>
          <p:cNvSpPr>
            <a:spLocks noGrp="1"/>
          </p:cNvSpPr>
          <p:nvPr/>
        </p:nvSpPr>
        <p:spPr>
          <a:xfrm>
            <a:off x="6572250" y="4371975"/>
            <a:ext cx="4933950" cy="1238250"/>
          </a:xfrm>
          <a:prstGeom prst="rect">
            <a:avLst/>
          </a:prstGeom>
          <a:noFill/>
          <a:ln w="0">
            <a:noFill/>
          </a:ln>
        </p:spPr>
        <p:txBody>
          <a:bodyPr wrap="square" lIns="0" tIns="0" rIns="0" bIns="0" anchor="t">
            <a:noAutofit/>
          </a:bodyPr>
          <a:lstStyle>
            <a:defPPr algn="l">
              <a:defRPr sz="1800" b="0">
                <a:solidFill>
                  <a:srgbClr val="172F41"/>
                </a:solidFill>
                <a:latin typeface="DejaVu Sans"/>
                <a:ea typeface="DejaVu Sans"/>
                <a:cs typeface="DejaVu Sans"/>
              </a:defRPr>
            </a:defPPr>
          </a:lstStyle>
          <a:p>
            <a:pPr algn="l">
              <a:defRPr sz="1800" b="0">
                <a:solidFill>
                  <a:srgbClr val="172F41"/>
                </a:solidFill>
                <a:latin typeface="DejaVu Sans"/>
                <a:ea typeface="DejaVu Sans"/>
                <a:cs typeface="DejaVu Sans"/>
              </a:defRPr>
            </a:pPr>
            <a:r>
              <a:rPr sz="1800" b="0">
                <a:solidFill>
                  <a:srgbClr val="172F41"/>
                </a:solidFill>
                <a:latin typeface="DejaVu Sans"/>
                <a:ea typeface="DejaVu Sans"/>
                <a:cs typeface="DejaVu Sans"/>
              </a:rPr>
              <a:t>Use a surrogate to screen designs.</a:t>
            </a:r>
          </a:p>
          <a:p>
            <a:pPr algn="l">
              <a:defRPr sz="1800" b="0">
                <a:solidFill>
                  <a:srgbClr val="172F41"/>
                </a:solidFill>
                <a:latin typeface="DejaVu Sans"/>
                <a:ea typeface="DejaVu Sans"/>
                <a:cs typeface="DejaVu Sans"/>
              </a:defRPr>
            </a:pPr>
            <a:r>
              <a:rPr sz="1800" b="0">
                <a:solidFill>
                  <a:srgbClr val="172F41"/>
                </a:solidFill>
                <a:latin typeface="DejaVu Sans"/>
                <a:ea typeface="DejaVu Sans"/>
                <a:cs typeface="DejaVu Sans"/>
              </a:rPr>
              <a:t>Confirm choices with physics models.</a:t>
            </a:r>
          </a:p>
          <a:p>
            <a:pPr algn="l">
              <a:defRPr sz="1800" b="0">
                <a:solidFill>
                  <a:srgbClr val="172F41"/>
                </a:solidFill>
                <a:latin typeface="DejaVu Sans"/>
                <a:ea typeface="DejaVu Sans"/>
                <a:cs typeface="DejaVu Sans"/>
              </a:defRPr>
            </a:pPr>
            <a:r>
              <a:rPr sz="1800" b="0">
                <a:solidFill>
                  <a:srgbClr val="172F41"/>
                </a:solidFill>
                <a:latin typeface="DejaVu Sans"/>
                <a:ea typeface="DejaVu Sans"/>
                <a:cs typeface="DejaVu Sans"/>
              </a:rPr>
              <a:t>Report uncertainty and prediction error.</a:t>
            </a:r>
          </a:p>
        </p:txBody>
      </p:sp>
      <p:sp>
        <p:nvSpPr>
          <p:cNvPr id="11" name="objective">
            <a:extLst>
              <a:ext uri="{FF2B5EF4-FFF2-40B4-BE49-F238E27FC236}">
                <a16:creationId xmlns:a16="http://schemas.microsoft.com/office/drawing/2014/main" id="{FF942873-9607-4564-AA17-ADF27BCEE4AA}"/>
              </a:ext>
            </a:extLst>
          </p:cNvPr>
          <p:cNvSpPr>
            <a:spLocks noGrp="1"/>
          </p:cNvSpPr>
          <p:nvPr/>
        </p:nvSpPr>
        <p:spPr>
          <a:xfrm>
            <a:off x="685800" y="5791200"/>
            <a:ext cx="10820400" cy="352425"/>
          </a:xfrm>
          <a:prstGeom prst="rect">
            <a:avLst/>
          </a:prstGeom>
          <a:noFill/>
          <a:ln w="0">
            <a:noFill/>
          </a:ln>
        </p:spPr>
        <p:txBody>
          <a:bodyPr wrap="square" lIns="0" tIns="0" rIns="0" bIns="0" anchor="t">
            <a:noAutofit/>
          </a:bodyPr>
          <a:lstStyle>
            <a:defPPr algn="l">
              <a:defRPr sz="1800" b="1">
                <a:solidFill>
                  <a:srgbClr val="102234"/>
                </a:solidFill>
                <a:latin typeface="DejaVu Sans"/>
                <a:ea typeface="DejaVu Sans"/>
                <a:cs typeface="DejaVu Sans"/>
              </a:defRPr>
            </a:defPPr>
          </a:lstStyle>
          <a:p>
            <a:pPr algn="l">
              <a:defRPr sz="1800" b="1">
                <a:solidFill>
                  <a:srgbClr val="102234"/>
                </a:solidFill>
                <a:latin typeface="DejaVu Sans"/>
                <a:ea typeface="DejaVu Sans"/>
                <a:cs typeface="DejaVu Sans"/>
              </a:defRPr>
            </a:pPr>
            <a:r>
              <a:rPr sz="1800" b="1">
                <a:solidFill>
                  <a:srgbClr val="102234"/>
                </a:solidFill>
                <a:latin typeface="DejaVu Sans"/>
                <a:ea typeface="DejaVu Sans"/>
                <a:cs typeface="DejaVu Sans"/>
              </a:rPr>
              <a:t>Objective: lower platform cost while meeting the stated requirements</a:t>
            </a:r>
          </a:p>
        </p:txBody>
      </p:sp>
      <p:sp>
        <p:nvSpPr>
          <p:cNvPr id="12" name="source-footnote">
            <a:extLst>
              <a:ext uri="{FF2B5EF4-FFF2-40B4-BE49-F238E27FC236}">
                <a16:creationId xmlns:a16="http://schemas.microsoft.com/office/drawing/2014/main" id="{93E117A8-07E0-4A25-B9EB-71F324AA10FA}"/>
              </a:ext>
            </a:extLst>
          </p:cNvPr>
          <p:cNvSpPr>
            <a:spLocks noGrp="1"/>
          </p:cNvSpPr>
          <p:nvPr/>
        </p:nvSpPr>
        <p:spPr>
          <a:xfrm>
            <a:off x="685800" y="6210300"/>
            <a:ext cx="10077450" cy="304800"/>
          </a:xfrm>
          <a:prstGeom prst="rect">
            <a:avLst/>
          </a:prstGeom>
          <a:noFill/>
          <a:ln w="0">
            <a:noFill/>
          </a:ln>
        </p:spPr>
        <p:txBody>
          <a:bodyPr wrap="square" lIns="0" tIns="0" rIns="0" bIns="0" anchor="t">
            <a:noAutofit/>
          </a:bodyPr>
          <a:lstStyle>
            <a:defPPr algn="l">
              <a:defRPr sz="1200" b="0">
                <a:solidFill>
                  <a:srgbClr val="5A6B76"/>
                </a:solidFill>
                <a:latin typeface="DejaVu Sans"/>
                <a:ea typeface="DejaVu Sans"/>
                <a:cs typeface="DejaVu Sans"/>
              </a:defRPr>
            </a:defPPr>
          </a:lstStyle>
          <a:p>
            <a:pPr algn="l">
              <a:defRPr sz="1200" b="0">
                <a:solidFill>
                  <a:srgbClr val="5A6B76"/>
                </a:solidFill>
                <a:latin typeface="DejaVu Sans"/>
                <a:ea typeface="DejaVu Sans"/>
                <a:cs typeface="DejaVu Sans"/>
              </a:defRPr>
            </a:pPr>
            <a:r>
              <a:rPr sz="1200" b="0">
                <a:solidFill>
                  <a:srgbClr val="5A6B76"/>
                </a:solidFill>
                <a:latin typeface="DejaVu Sans"/>
                <a:ea typeface="DejaVu Sans"/>
                <a:cs typeface="DejaVu Sans"/>
              </a:rPr>
              <a:t>Sources: L06, pp. 8, 21 and 39. L08, pp. 3-6 and 21. L09, pp. 10-18 and 24.</a:t>
            </a:r>
          </a:p>
        </p:txBody>
      </p:sp>
    </p:spTree>
    <p:extLst>
      <p:ext uri="{BB962C8B-B14F-4D97-AF65-F5344CB8AC3E}">
        <p14:creationId xmlns:p14="http://schemas.microsoft.com/office/powerpoint/2010/main" val="8262077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6" name="slide-title">
            <a:extLst>
              <a:ext uri="{FF2B5EF4-FFF2-40B4-BE49-F238E27FC236}">
                <a16:creationId xmlns:a16="http://schemas.microsoft.com/office/drawing/2014/main" id="{2E1A7D6C-EFE5-49E2-81FE-461CC7456ABB}"/>
              </a:ext>
            </a:extLst>
          </p:cNvPr>
          <p:cNvSpPr>
            <a:spLocks noGrp="1"/>
          </p:cNvSpPr>
          <p:nvPr/>
        </p:nvSpPr>
        <p:spPr>
          <a:xfrm>
            <a:off x="685800" y="495300"/>
            <a:ext cx="10820400" cy="685800"/>
          </a:xfrm>
          <a:prstGeom prst="rect">
            <a:avLst/>
          </a:prstGeom>
          <a:noFill/>
          <a:ln w="0">
            <a:noFill/>
          </a:ln>
        </p:spPr>
        <p:txBody>
          <a:bodyPr wrap="square" lIns="0" tIns="0" rIns="0" bIns="0" anchor="t">
            <a:noAutofit/>
          </a:bodyPr>
          <a:lstStyle>
            <a:defPPr algn="l">
              <a:defRPr sz="3450" b="1">
                <a:solidFill>
                  <a:srgbClr val="102234"/>
                </a:solidFill>
                <a:latin typeface="DejaVu Sans"/>
                <a:ea typeface="DejaVu Sans"/>
                <a:cs typeface="DejaVu Sans"/>
              </a:defRPr>
            </a:defPPr>
          </a:lstStyle>
          <a:p>
            <a:pPr algn="l">
              <a:defRPr sz="3450" b="1">
                <a:solidFill>
                  <a:srgbClr val="102234"/>
                </a:solidFill>
                <a:latin typeface="DejaVu Sans"/>
                <a:ea typeface="DejaVu Sans"/>
                <a:cs typeface="DejaVu Sans"/>
              </a:defRPr>
            </a:pPr>
            <a:r>
              <a:rPr lang="en-US" sz="3450" b="1" dirty="0">
                <a:solidFill>
                  <a:srgbClr val="102234"/>
                </a:solidFill>
                <a:latin typeface="DejaVu Sans"/>
                <a:ea typeface="DejaVu Sans"/>
                <a:cs typeface="DejaVu Sans"/>
              </a:rPr>
              <a:t>Research Fit</a:t>
            </a:r>
            <a:endParaRPr sz="3450" b="1" dirty="0">
              <a:solidFill>
                <a:srgbClr val="102234"/>
              </a:solidFill>
              <a:latin typeface="DejaVu Sans"/>
              <a:ea typeface="DejaVu Sans"/>
              <a:cs typeface="DejaVu Sans"/>
            </a:endParaRPr>
          </a:p>
        </p:txBody>
      </p:sp>
      <p:sp>
        <p:nvSpPr>
          <p:cNvPr id="2" name="subtitle">
            <a:extLst>
              <a:ext uri="{FF2B5EF4-FFF2-40B4-BE49-F238E27FC236}">
                <a16:creationId xmlns:a16="http://schemas.microsoft.com/office/drawing/2014/main" id="{AADFBFB2-F904-4467-84CA-2A29ABA56BE1}"/>
              </a:ext>
            </a:extLst>
          </p:cNvPr>
          <p:cNvSpPr>
            <a:spLocks noGrp="1"/>
          </p:cNvSpPr>
          <p:nvPr/>
        </p:nvSpPr>
        <p:spPr>
          <a:xfrm>
            <a:off x="685800" y="1257300"/>
            <a:ext cx="10820400" cy="590550"/>
          </a:xfrm>
          <a:prstGeom prst="rect">
            <a:avLst/>
          </a:prstGeom>
          <a:noFill/>
          <a:ln w="0">
            <a:noFill/>
          </a:ln>
        </p:spPr>
        <p:txBody>
          <a:bodyPr wrap="square" lIns="0" tIns="0" rIns="0" bIns="0" anchor="t">
            <a:noAutofit/>
          </a:bodyPr>
          <a:lstStyle>
            <a:defPPr algn="l">
              <a:defRPr sz="1800" b="0">
                <a:solidFill>
                  <a:srgbClr val="5A6B76"/>
                </a:solidFill>
                <a:latin typeface="DejaVu Sans"/>
                <a:ea typeface="DejaVu Sans"/>
                <a:cs typeface="DejaVu Sans"/>
              </a:defRPr>
            </a:defPPr>
          </a:lstStyle>
          <a:p>
            <a:pPr algn="l">
              <a:defRPr sz="1800" b="0">
                <a:solidFill>
                  <a:srgbClr val="5A6B76"/>
                </a:solidFill>
                <a:latin typeface="DejaVu Sans"/>
                <a:ea typeface="DejaVu Sans"/>
                <a:cs typeface="DejaVu Sans"/>
              </a:defRPr>
            </a:pPr>
            <a:r>
              <a:rPr sz="1800" b="0">
                <a:solidFill>
                  <a:srgbClr val="5A6B76"/>
                </a:solidFill>
                <a:latin typeface="DejaVu Sans"/>
                <a:ea typeface="DejaVu Sans"/>
                <a:cs typeface="DejaVu Sans"/>
              </a:rPr>
              <a:t>The strongest fit is the engineering method shared across physical systems.</a:t>
            </a:r>
          </a:p>
        </p:txBody>
      </p:sp>
      <p:sp>
        <p:nvSpPr>
          <p:cNvPr id="3" name="page-number">
            <a:extLst>
              <a:ext uri="{FF2B5EF4-FFF2-40B4-BE49-F238E27FC236}">
                <a16:creationId xmlns:a16="http://schemas.microsoft.com/office/drawing/2014/main" id="{E87FBD15-D6E6-481A-8735-492EC2E08CDD}"/>
              </a:ext>
            </a:extLst>
          </p:cNvPr>
          <p:cNvSpPr>
            <a:spLocks noGrp="1"/>
          </p:cNvSpPr>
          <p:nvPr/>
        </p:nvSpPr>
        <p:spPr>
          <a:xfrm>
            <a:off x="11029950" y="6286500"/>
            <a:ext cx="476250" cy="209550"/>
          </a:xfrm>
          <a:prstGeom prst="rect">
            <a:avLst/>
          </a:prstGeom>
          <a:noFill/>
          <a:ln w="0">
            <a:noFill/>
          </a:ln>
        </p:spPr>
        <p:txBody>
          <a:bodyPr wrap="square" lIns="0" tIns="0" rIns="0" bIns="0" anchor="t">
            <a:noAutofit/>
          </a:bodyPr>
          <a:lstStyle>
            <a:defPPr algn="r">
              <a:defRPr sz="1200" b="0">
                <a:solidFill>
                  <a:srgbClr val="5A6B76"/>
                </a:solidFill>
                <a:latin typeface="DejaVu Sans"/>
                <a:ea typeface="DejaVu Sans"/>
                <a:cs typeface="DejaVu Sans"/>
              </a:defRPr>
            </a:defPPr>
          </a:lstStyle>
          <a:p>
            <a:pPr algn="r">
              <a:defRPr sz="1200" b="0">
                <a:solidFill>
                  <a:srgbClr val="5A6B76"/>
                </a:solidFill>
                <a:latin typeface="DejaVu Sans"/>
                <a:ea typeface="DejaVu Sans"/>
                <a:cs typeface="DejaVu Sans"/>
              </a:defRPr>
            </a:pPr>
            <a:r>
              <a:rPr sz="1200" b="0">
                <a:solidFill>
                  <a:srgbClr val="5A6B76"/>
                </a:solidFill>
                <a:latin typeface="DejaVu Sans"/>
                <a:ea typeface="DejaVu Sans"/>
                <a:cs typeface="DejaVu Sans"/>
              </a:rPr>
              <a:t>06</a:t>
            </a:r>
          </a:p>
        </p:txBody>
      </p:sp>
      <p:graphicFrame>
        <p:nvGraphicFramePr>
          <p:cNvPr id="4" name="Table 3">
            <a:extLst>
              <a:ext uri="{FF2B5EF4-FFF2-40B4-BE49-F238E27FC236}">
                <a16:creationId xmlns:a16="http://schemas.microsoft.com/office/drawing/2014/main" id="{38C48E40-E5F4-4AB7-B427-BFFBACA63AC4}"/>
              </a:ext>
            </a:extLst>
          </p:cNvPr>
          <p:cNvGraphicFramePr/>
          <p:nvPr>
            <p:extLst>
              <p:ext uri="{D42A27DB-BD31-4B8C-83A1-F6EECF244321}">
                <p14:modId xmlns:p14="http://schemas.microsoft.com/office/powerpoint/2010/main" val="3046789349"/>
              </p:ext>
            </p:extLst>
          </p:nvPr>
        </p:nvGraphicFramePr>
        <p:xfrm>
          <a:off x="685800" y="1943100"/>
          <a:ext cx="10820400" cy="3829050"/>
        </p:xfrm>
        <a:graphic>
          <a:graphicData uri="http://schemas.openxmlformats.org/drawingml/2006/table">
            <a:tbl>
              <a:tblPr firstRow="1"/>
              <a:tblGrid>
                <a:gridCol w="3267075">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gridCol w="5838825">
                  <a:extLst>
                    <a:ext uri="{9D8B030D-6E8A-4147-A177-3AD203B41FA5}">
                      <a16:colId xmlns:a16="http://schemas.microsoft.com/office/drawing/2014/main" val="20002"/>
                    </a:ext>
                  </a:extLst>
                </a:gridCol>
              </a:tblGrid>
              <a:tr h="514350">
                <a:tc>
                  <a:txBody>
                    <a:bodyPr/>
                    <a:lstStyle/>
                    <a:p>
                      <a:pPr algn="l"/>
                      <a:r>
                        <a:rPr sz="1725" b="1">
                          <a:solidFill>
                            <a:srgbClr val="FFFFFF"/>
                          </a:solidFill>
                          <a:latin typeface="DejaVu Sans"/>
                          <a:ea typeface="DejaVu Sans"/>
                          <a:cs typeface="DejaVu Sans"/>
                        </a:rPr>
                        <a:t>Research theme</a:t>
                      </a:r>
                    </a:p>
                  </a:txBody>
                  <a:tcPr anchor="ctr">
                    <a:solidFill>
                      <a:srgbClr val="102234"/>
                    </a:solidFill>
                  </a:tcPr>
                </a:tc>
                <a:tc>
                  <a:txBody>
                    <a:bodyPr/>
                    <a:lstStyle/>
                    <a:p>
                      <a:pPr algn="l"/>
                      <a:r>
                        <a:rPr sz="1725" b="1">
                          <a:solidFill>
                            <a:srgbClr val="FFFFFF"/>
                          </a:solidFill>
                          <a:latin typeface="DejaVu Sans"/>
                          <a:ea typeface="DejaVu Sans"/>
                          <a:cs typeface="DejaVu Sans"/>
                        </a:rPr>
                        <a:t>Connection</a:t>
                      </a:r>
                    </a:p>
                  </a:txBody>
                  <a:tcPr anchor="ctr">
                    <a:solidFill>
                      <a:srgbClr val="102234"/>
                    </a:solidFill>
                  </a:tcPr>
                </a:tc>
                <a:tc>
                  <a:txBody>
                    <a:bodyPr/>
                    <a:lstStyle/>
                    <a:p>
                      <a:pPr algn="l"/>
                      <a:r>
                        <a:rPr sz="1725" b="1">
                          <a:solidFill>
                            <a:srgbClr val="FFFFFF"/>
                          </a:solidFill>
                          <a:latin typeface="DejaVu Sans"/>
                          <a:ea typeface="DejaVu Sans"/>
                          <a:cs typeface="DejaVu Sans"/>
                        </a:rPr>
                        <a:t>Contribution</a:t>
                      </a:r>
                    </a:p>
                  </a:txBody>
                  <a:tcPr anchor="ctr">
                    <a:solidFill>
                      <a:srgbClr val="102234"/>
                    </a:solidFill>
                  </a:tcPr>
                </a:tc>
                <a:extLst>
                  <a:ext uri="{0D108BD9-81ED-4DB2-BD59-A6C34878D82A}">
                    <a16:rowId xmlns:a16="http://schemas.microsoft.com/office/drawing/2014/main" val="10000"/>
                  </a:ext>
                </a:extLst>
              </a:tr>
              <a:tr h="828675">
                <a:tc>
                  <a:txBody>
                    <a:bodyPr/>
                    <a:lstStyle/>
                    <a:p>
                      <a:pPr algn="l"/>
                      <a:r>
                        <a:rPr sz="1725" b="1" dirty="0">
                          <a:solidFill>
                            <a:srgbClr val="126E73"/>
                          </a:solidFill>
                          <a:latin typeface="DejaVu Sans"/>
                          <a:ea typeface="DejaVu Sans"/>
                          <a:cs typeface="DejaVu Sans"/>
                        </a:rPr>
                        <a:t>Robotics and </a:t>
                      </a:r>
                      <a:r>
                        <a:rPr lang="en-US" sz="1725" b="1" dirty="0">
                          <a:solidFill>
                            <a:srgbClr val="126E73"/>
                          </a:solidFill>
                          <a:latin typeface="DejaVu Sans"/>
                          <a:ea typeface="DejaVu Sans"/>
                          <a:cs typeface="DejaVu Sans"/>
                        </a:rPr>
                        <a:t>C</a:t>
                      </a:r>
                      <a:r>
                        <a:rPr sz="1725" b="1" dirty="0">
                          <a:solidFill>
                            <a:srgbClr val="126E73"/>
                          </a:solidFill>
                          <a:latin typeface="DejaVu Sans"/>
                          <a:ea typeface="DejaVu Sans"/>
                          <a:cs typeface="DejaVu Sans"/>
                        </a:rPr>
                        <a:t>ontrols</a:t>
                      </a:r>
                    </a:p>
                  </a:txBody>
                  <a:tcPr anchor="ctr">
                    <a:solidFill>
                      <a:srgbClr val="FAFAF7"/>
                    </a:solidFill>
                  </a:tcPr>
                </a:tc>
                <a:tc>
                  <a:txBody>
                    <a:bodyPr/>
                    <a:lstStyle/>
                    <a:p>
                      <a:pPr algn="l"/>
                      <a:r>
                        <a:rPr sz="1725" b="0">
                          <a:solidFill>
                            <a:srgbClr val="172F41"/>
                          </a:solidFill>
                          <a:latin typeface="DejaVu Sans"/>
                          <a:ea typeface="DejaVu Sans"/>
                          <a:cs typeface="DejaVu Sans"/>
                        </a:rPr>
                        <a:t>Direct</a:t>
                      </a:r>
                    </a:p>
                  </a:txBody>
                  <a:tcPr anchor="ctr">
                    <a:solidFill>
                      <a:srgbClr val="FAFAF7"/>
                    </a:solidFill>
                  </a:tcPr>
                </a:tc>
                <a:tc>
                  <a:txBody>
                    <a:bodyPr/>
                    <a:lstStyle/>
                    <a:p>
                      <a:pPr algn="l"/>
                      <a:r>
                        <a:rPr sz="1725" b="0">
                          <a:solidFill>
                            <a:srgbClr val="172F41"/>
                          </a:solidFill>
                          <a:latin typeface="DejaVu Sans"/>
                          <a:ea typeface="DejaVu Sans"/>
                          <a:cs typeface="DejaVu Sans"/>
                        </a:rPr>
                        <a:t>State estimation, calibration, and fault-aware supervision</a:t>
                      </a:r>
                    </a:p>
                  </a:txBody>
                  <a:tcPr anchor="ctr">
                    <a:solidFill>
                      <a:srgbClr val="FAFAF7"/>
                    </a:solidFill>
                  </a:tcPr>
                </a:tc>
                <a:extLst>
                  <a:ext uri="{0D108BD9-81ED-4DB2-BD59-A6C34878D82A}">
                    <a16:rowId xmlns:a16="http://schemas.microsoft.com/office/drawing/2014/main" val="10001"/>
                  </a:ext>
                </a:extLst>
              </a:tr>
              <a:tr h="828675">
                <a:tc>
                  <a:txBody>
                    <a:bodyPr/>
                    <a:lstStyle/>
                    <a:p>
                      <a:pPr algn="l"/>
                      <a:r>
                        <a:rPr sz="1725" b="1" dirty="0">
                          <a:solidFill>
                            <a:srgbClr val="126E73"/>
                          </a:solidFill>
                          <a:latin typeface="DejaVu Sans"/>
                          <a:ea typeface="DejaVu Sans"/>
                          <a:cs typeface="DejaVu Sans"/>
                        </a:rPr>
                        <a:t>AI for </a:t>
                      </a:r>
                      <a:r>
                        <a:rPr lang="en-US" sz="1725" b="1" dirty="0">
                          <a:solidFill>
                            <a:srgbClr val="126E73"/>
                          </a:solidFill>
                          <a:latin typeface="DejaVu Sans"/>
                          <a:ea typeface="DejaVu Sans"/>
                          <a:cs typeface="DejaVu Sans"/>
                        </a:rPr>
                        <a:t>P</a:t>
                      </a:r>
                      <a:r>
                        <a:rPr sz="1725" b="1" dirty="0">
                          <a:solidFill>
                            <a:srgbClr val="126E73"/>
                          </a:solidFill>
                          <a:latin typeface="DejaVu Sans"/>
                          <a:ea typeface="DejaVu Sans"/>
                          <a:cs typeface="DejaVu Sans"/>
                        </a:rPr>
                        <a:t>hysical </a:t>
                      </a:r>
                      <a:r>
                        <a:rPr lang="en-US" sz="1725" b="1" dirty="0">
                          <a:solidFill>
                            <a:srgbClr val="126E73"/>
                          </a:solidFill>
                          <a:latin typeface="DejaVu Sans"/>
                          <a:ea typeface="DejaVu Sans"/>
                          <a:cs typeface="DejaVu Sans"/>
                        </a:rPr>
                        <a:t>S</a:t>
                      </a:r>
                      <a:r>
                        <a:rPr sz="1725" b="1" dirty="0">
                          <a:solidFill>
                            <a:srgbClr val="126E73"/>
                          </a:solidFill>
                          <a:latin typeface="DejaVu Sans"/>
                          <a:ea typeface="DejaVu Sans"/>
                          <a:cs typeface="DejaVu Sans"/>
                        </a:rPr>
                        <a:t>ystems</a:t>
                      </a:r>
                    </a:p>
                  </a:txBody>
                  <a:tcPr anchor="ctr">
                    <a:solidFill>
                      <a:srgbClr val="FAFAF7"/>
                    </a:solidFill>
                  </a:tcPr>
                </a:tc>
                <a:tc>
                  <a:txBody>
                    <a:bodyPr/>
                    <a:lstStyle/>
                    <a:p>
                      <a:pPr algn="l"/>
                      <a:r>
                        <a:rPr sz="1725" b="0">
                          <a:solidFill>
                            <a:srgbClr val="172F41"/>
                          </a:solidFill>
                          <a:latin typeface="DejaVu Sans"/>
                          <a:ea typeface="DejaVu Sans"/>
                          <a:cs typeface="DejaVu Sans"/>
                        </a:rPr>
                        <a:t>Direct</a:t>
                      </a:r>
                    </a:p>
                  </a:txBody>
                  <a:tcPr anchor="ctr">
                    <a:solidFill>
                      <a:srgbClr val="FAFAF7"/>
                    </a:solidFill>
                  </a:tcPr>
                </a:tc>
                <a:tc>
                  <a:txBody>
                    <a:bodyPr/>
                    <a:lstStyle/>
                    <a:p>
                      <a:pPr algn="l"/>
                      <a:r>
                        <a:rPr sz="1725" b="0">
                          <a:solidFill>
                            <a:srgbClr val="172F41"/>
                          </a:solidFill>
                          <a:latin typeface="DejaVu Sans"/>
                          <a:ea typeface="DejaVu Sans"/>
                          <a:cs typeface="DejaVu Sans"/>
                        </a:rPr>
                        <a:t>Surrogate modeling, constrained design, and experimental validation</a:t>
                      </a:r>
                    </a:p>
                  </a:txBody>
                  <a:tcPr anchor="ctr">
                    <a:solidFill>
                      <a:srgbClr val="FAFAF7"/>
                    </a:solidFill>
                  </a:tcPr>
                </a:tc>
                <a:extLst>
                  <a:ext uri="{0D108BD9-81ED-4DB2-BD59-A6C34878D82A}">
                    <a16:rowId xmlns:a16="http://schemas.microsoft.com/office/drawing/2014/main" val="10002"/>
                  </a:ext>
                </a:extLst>
              </a:tr>
              <a:tr h="828675">
                <a:tc>
                  <a:txBody>
                    <a:bodyPr/>
                    <a:lstStyle/>
                    <a:p>
                      <a:pPr algn="l"/>
                      <a:r>
                        <a:rPr sz="1725" b="1" dirty="0">
                          <a:solidFill>
                            <a:srgbClr val="126E73"/>
                          </a:solidFill>
                          <a:latin typeface="DejaVu Sans"/>
                          <a:ea typeface="DejaVu Sans"/>
                          <a:cs typeface="DejaVu Sans"/>
                        </a:rPr>
                        <a:t>Aerospace </a:t>
                      </a:r>
                      <a:r>
                        <a:rPr lang="en-US" sz="1725" b="1" dirty="0">
                          <a:solidFill>
                            <a:srgbClr val="126E73"/>
                          </a:solidFill>
                          <a:latin typeface="DejaVu Sans"/>
                          <a:ea typeface="DejaVu Sans"/>
                          <a:cs typeface="DejaVu Sans"/>
                        </a:rPr>
                        <a:t>D</a:t>
                      </a:r>
                      <a:r>
                        <a:rPr sz="1725" b="1" dirty="0">
                          <a:solidFill>
                            <a:srgbClr val="126E73"/>
                          </a:solidFill>
                          <a:latin typeface="DejaVu Sans"/>
                          <a:ea typeface="DejaVu Sans"/>
                          <a:cs typeface="DejaVu Sans"/>
                        </a:rPr>
                        <a:t>irection</a:t>
                      </a:r>
                    </a:p>
                  </a:txBody>
                  <a:tcPr anchor="ctr">
                    <a:solidFill>
                      <a:srgbClr val="FAFAF7"/>
                    </a:solidFill>
                  </a:tcPr>
                </a:tc>
                <a:tc>
                  <a:txBody>
                    <a:bodyPr/>
                    <a:lstStyle/>
                    <a:p>
                      <a:pPr algn="l"/>
                      <a:r>
                        <a:rPr sz="1725" b="0">
                          <a:solidFill>
                            <a:srgbClr val="172F41"/>
                          </a:solidFill>
                          <a:latin typeface="DejaVu Sans"/>
                          <a:ea typeface="DejaVu Sans"/>
                          <a:cs typeface="DejaVu Sans"/>
                        </a:rPr>
                        <a:t>Application</a:t>
                      </a:r>
                    </a:p>
                  </a:txBody>
                  <a:tcPr anchor="ctr">
                    <a:solidFill>
                      <a:srgbClr val="FAFAF7"/>
                    </a:solidFill>
                  </a:tcPr>
                </a:tc>
                <a:tc>
                  <a:txBody>
                    <a:bodyPr/>
                    <a:lstStyle/>
                    <a:p>
                      <a:pPr algn="l"/>
                      <a:r>
                        <a:rPr sz="1725" b="0">
                          <a:solidFill>
                            <a:srgbClr val="172F41"/>
                          </a:solidFill>
                          <a:latin typeface="DejaVu Sans"/>
                          <a:ea typeface="DejaVu Sans"/>
                          <a:cs typeface="DejaVu Sans"/>
                        </a:rPr>
                        <a:t>Aerial CPS experience that can inform later space systems work</a:t>
                      </a:r>
                    </a:p>
                  </a:txBody>
                  <a:tcPr anchor="ctr">
                    <a:solidFill>
                      <a:srgbClr val="FAFAF7"/>
                    </a:solidFill>
                  </a:tcPr>
                </a:tc>
                <a:extLst>
                  <a:ext uri="{0D108BD9-81ED-4DB2-BD59-A6C34878D82A}">
                    <a16:rowId xmlns:a16="http://schemas.microsoft.com/office/drawing/2014/main" val="10003"/>
                  </a:ext>
                </a:extLst>
              </a:tr>
              <a:tr h="828675">
                <a:tc>
                  <a:txBody>
                    <a:bodyPr/>
                    <a:lstStyle/>
                    <a:p>
                      <a:pPr algn="l"/>
                      <a:r>
                        <a:rPr sz="1725" b="1" dirty="0">
                          <a:solidFill>
                            <a:srgbClr val="126E73"/>
                          </a:solidFill>
                          <a:latin typeface="DejaVu Sans"/>
                          <a:ea typeface="DejaVu Sans"/>
                          <a:cs typeface="DejaVu Sans"/>
                        </a:rPr>
                        <a:t>Friction </a:t>
                      </a:r>
                      <a:r>
                        <a:rPr lang="en-US" sz="1725" b="1" dirty="0">
                          <a:solidFill>
                            <a:srgbClr val="126E73"/>
                          </a:solidFill>
                          <a:latin typeface="DejaVu Sans"/>
                          <a:ea typeface="DejaVu Sans"/>
                          <a:cs typeface="DejaVu Sans"/>
                        </a:rPr>
                        <a:t>S</a:t>
                      </a:r>
                      <a:r>
                        <a:rPr sz="1725" b="1" dirty="0">
                          <a:solidFill>
                            <a:srgbClr val="126E73"/>
                          </a:solidFill>
                          <a:latin typeface="DejaVu Sans"/>
                          <a:ea typeface="DejaVu Sans"/>
                          <a:cs typeface="DejaVu Sans"/>
                        </a:rPr>
                        <a:t>tir </a:t>
                      </a:r>
                      <a:r>
                        <a:rPr lang="en-US" sz="1725" b="1" dirty="0">
                          <a:solidFill>
                            <a:srgbClr val="126E73"/>
                          </a:solidFill>
                          <a:latin typeface="DejaVu Sans"/>
                          <a:ea typeface="DejaVu Sans"/>
                          <a:cs typeface="DejaVu Sans"/>
                        </a:rPr>
                        <a:t>W</a:t>
                      </a:r>
                      <a:r>
                        <a:rPr sz="1725" b="1" dirty="0">
                          <a:solidFill>
                            <a:srgbClr val="126E73"/>
                          </a:solidFill>
                          <a:latin typeface="DejaVu Sans"/>
                          <a:ea typeface="DejaVu Sans"/>
                          <a:cs typeface="DejaVu Sans"/>
                        </a:rPr>
                        <a:t>elding</a:t>
                      </a:r>
                    </a:p>
                  </a:txBody>
                  <a:tcPr anchor="ctr">
                    <a:solidFill>
                      <a:srgbClr val="FAFAF7"/>
                    </a:solidFill>
                  </a:tcPr>
                </a:tc>
                <a:tc>
                  <a:txBody>
                    <a:bodyPr/>
                    <a:lstStyle/>
                    <a:p>
                      <a:pPr algn="l"/>
                      <a:r>
                        <a:rPr sz="1725" b="0">
                          <a:solidFill>
                            <a:srgbClr val="172F41"/>
                          </a:solidFill>
                          <a:latin typeface="DejaVu Sans"/>
                          <a:ea typeface="DejaVu Sans"/>
                          <a:cs typeface="DejaVu Sans"/>
                        </a:rPr>
                        <a:t>Indirect</a:t>
                      </a:r>
                    </a:p>
                  </a:txBody>
                  <a:tcPr anchor="ctr">
                    <a:solidFill>
                      <a:srgbClr val="FAFAF7"/>
                    </a:solidFill>
                  </a:tcPr>
                </a:tc>
                <a:tc>
                  <a:txBody>
                    <a:bodyPr/>
                    <a:lstStyle/>
                    <a:p>
                      <a:pPr algn="l"/>
                      <a:r>
                        <a:rPr sz="1725" b="0" dirty="0">
                          <a:solidFill>
                            <a:srgbClr val="172F41"/>
                          </a:solidFill>
                          <a:latin typeface="DejaVu Sans"/>
                          <a:ea typeface="DejaVu Sans"/>
                          <a:cs typeface="DejaVu Sans"/>
                        </a:rPr>
                        <a:t>Transfer modeling and validation methods to thermal and manufacturing problems</a:t>
                      </a:r>
                    </a:p>
                  </a:txBody>
                  <a:tcPr anchor="ctr">
                    <a:solidFill>
                      <a:srgbClr val="FAFAF7"/>
                    </a:solidFill>
                  </a:tcPr>
                </a:tc>
                <a:extLst>
                  <a:ext uri="{0D108BD9-81ED-4DB2-BD59-A6C34878D82A}">
                    <a16:rowId xmlns:a16="http://schemas.microsoft.com/office/drawing/2014/main" val="10004"/>
                  </a:ext>
                </a:extLst>
              </a:tr>
            </a:tbl>
          </a:graphicData>
        </a:graphic>
      </p:graphicFrame>
      <p:sp>
        <p:nvSpPr>
          <p:cNvPr id="5" name="source-footnote">
            <a:extLst>
              <a:ext uri="{FF2B5EF4-FFF2-40B4-BE49-F238E27FC236}">
                <a16:creationId xmlns:a16="http://schemas.microsoft.com/office/drawing/2014/main" id="{8DD05EDB-FDA7-4EA2-837A-A8FA903BD4E1}"/>
              </a:ext>
            </a:extLst>
          </p:cNvPr>
          <p:cNvSpPr>
            <a:spLocks noGrp="1"/>
          </p:cNvSpPr>
          <p:nvPr/>
        </p:nvSpPr>
        <p:spPr>
          <a:xfrm>
            <a:off x="685800" y="6210300"/>
            <a:ext cx="10077450" cy="304800"/>
          </a:xfrm>
          <a:prstGeom prst="rect">
            <a:avLst/>
          </a:prstGeom>
          <a:noFill/>
          <a:ln w="0">
            <a:noFill/>
          </a:ln>
        </p:spPr>
        <p:txBody>
          <a:bodyPr wrap="square" lIns="0" tIns="0" rIns="0" bIns="0" anchor="t">
            <a:noAutofit/>
          </a:bodyPr>
          <a:lstStyle>
            <a:defPPr algn="l">
              <a:defRPr sz="1200" b="0">
                <a:solidFill>
                  <a:srgbClr val="5A6B76"/>
                </a:solidFill>
                <a:latin typeface="DejaVu Sans"/>
                <a:ea typeface="DejaVu Sans"/>
                <a:cs typeface="DejaVu Sans"/>
              </a:defRPr>
            </a:defPPr>
          </a:lstStyle>
          <a:p>
            <a:pPr algn="l">
              <a:defRPr sz="1200" b="0">
                <a:solidFill>
                  <a:srgbClr val="5A6B76"/>
                </a:solidFill>
                <a:latin typeface="DejaVu Sans"/>
                <a:ea typeface="DejaVu Sans"/>
                <a:cs typeface="DejaVu Sans"/>
              </a:defRPr>
            </a:pPr>
            <a:r>
              <a:rPr sz="1200" b="0">
                <a:solidFill>
                  <a:srgbClr val="5A6B76"/>
                </a:solidFill>
                <a:latin typeface="DejaVu Sans"/>
                <a:ea typeface="DejaVu Sans"/>
                <a:cs typeface="DejaVu Sans"/>
              </a:rPr>
              <a:t>Proposed alignment with my robotics, AI, controls, manufacturing, and aerospace interests.</a:t>
            </a:r>
          </a:p>
        </p:txBody>
      </p:sp>
    </p:spTree>
    <p:extLst>
      <p:ext uri="{BB962C8B-B14F-4D97-AF65-F5344CB8AC3E}">
        <p14:creationId xmlns:p14="http://schemas.microsoft.com/office/powerpoint/2010/main" val="1527919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12" name="slide-title">
            <a:extLst>
              <a:ext uri="{FF2B5EF4-FFF2-40B4-BE49-F238E27FC236}">
                <a16:creationId xmlns:a16="http://schemas.microsoft.com/office/drawing/2014/main" id="{C196B6B3-9C5E-4880-836F-92A5ACE31209}"/>
              </a:ext>
            </a:extLst>
          </p:cNvPr>
          <p:cNvSpPr>
            <a:spLocks noGrp="1"/>
          </p:cNvSpPr>
          <p:nvPr/>
        </p:nvSpPr>
        <p:spPr>
          <a:xfrm>
            <a:off x="685800" y="495300"/>
            <a:ext cx="10820400" cy="685800"/>
          </a:xfrm>
          <a:prstGeom prst="rect">
            <a:avLst/>
          </a:prstGeom>
          <a:noFill/>
          <a:ln w="0">
            <a:noFill/>
          </a:ln>
        </p:spPr>
        <p:txBody>
          <a:bodyPr wrap="square" lIns="0" tIns="0" rIns="0" bIns="0" anchor="t">
            <a:noAutofit/>
          </a:bodyPr>
          <a:lstStyle>
            <a:defPPr algn="l">
              <a:defRPr sz="3450" b="1">
                <a:solidFill>
                  <a:srgbClr val="102234"/>
                </a:solidFill>
                <a:latin typeface="DejaVu Sans"/>
                <a:ea typeface="DejaVu Sans"/>
                <a:cs typeface="DejaVu Sans"/>
              </a:defRPr>
            </a:defPPr>
          </a:lstStyle>
          <a:p>
            <a:pPr algn="l">
              <a:defRPr sz="3450" b="1">
                <a:solidFill>
                  <a:srgbClr val="102234"/>
                </a:solidFill>
                <a:latin typeface="DejaVu Sans"/>
                <a:ea typeface="DejaVu Sans"/>
                <a:cs typeface="DejaVu Sans"/>
              </a:defRPr>
            </a:pPr>
            <a:r>
              <a:rPr lang="en-US" sz="3450" b="1" dirty="0">
                <a:solidFill>
                  <a:srgbClr val="102234"/>
                </a:solidFill>
                <a:latin typeface="DejaVu Sans"/>
                <a:ea typeface="DejaVu Sans"/>
                <a:cs typeface="DejaVu Sans"/>
              </a:rPr>
              <a:t>Final Course Project</a:t>
            </a:r>
            <a:endParaRPr sz="3450" b="1" dirty="0">
              <a:solidFill>
                <a:srgbClr val="102234"/>
              </a:solidFill>
              <a:latin typeface="DejaVu Sans"/>
              <a:ea typeface="DejaVu Sans"/>
              <a:cs typeface="DejaVu Sans"/>
            </a:endParaRPr>
          </a:p>
        </p:txBody>
      </p:sp>
      <p:sp>
        <p:nvSpPr>
          <p:cNvPr id="2" name="page-number">
            <a:extLst>
              <a:ext uri="{FF2B5EF4-FFF2-40B4-BE49-F238E27FC236}">
                <a16:creationId xmlns:a16="http://schemas.microsoft.com/office/drawing/2014/main" id="{401F84E6-B7E4-49AC-A92A-7A4F52CA6C72}"/>
              </a:ext>
            </a:extLst>
          </p:cNvPr>
          <p:cNvSpPr>
            <a:spLocks noGrp="1"/>
          </p:cNvSpPr>
          <p:nvPr/>
        </p:nvSpPr>
        <p:spPr>
          <a:xfrm>
            <a:off x="11029950" y="6286500"/>
            <a:ext cx="476250" cy="209550"/>
          </a:xfrm>
          <a:prstGeom prst="rect">
            <a:avLst/>
          </a:prstGeom>
          <a:noFill/>
          <a:ln w="0">
            <a:noFill/>
          </a:ln>
        </p:spPr>
        <p:txBody>
          <a:bodyPr wrap="square" lIns="0" tIns="0" rIns="0" bIns="0" anchor="t">
            <a:noAutofit/>
          </a:bodyPr>
          <a:lstStyle>
            <a:defPPr algn="r">
              <a:defRPr sz="1200" b="0">
                <a:solidFill>
                  <a:srgbClr val="5A6B76"/>
                </a:solidFill>
                <a:latin typeface="DejaVu Sans"/>
                <a:ea typeface="DejaVu Sans"/>
                <a:cs typeface="DejaVu Sans"/>
              </a:defRPr>
            </a:defPPr>
          </a:lstStyle>
          <a:p>
            <a:pPr algn="r">
              <a:defRPr sz="1200" b="0">
                <a:solidFill>
                  <a:srgbClr val="5A6B76"/>
                </a:solidFill>
                <a:latin typeface="DejaVu Sans"/>
                <a:ea typeface="DejaVu Sans"/>
                <a:cs typeface="DejaVu Sans"/>
              </a:defRPr>
            </a:pPr>
            <a:r>
              <a:rPr sz="1200" b="0">
                <a:solidFill>
                  <a:srgbClr val="5A6B76"/>
                </a:solidFill>
                <a:latin typeface="DejaVu Sans"/>
                <a:ea typeface="DejaVu Sans"/>
                <a:cs typeface="DejaVu Sans"/>
              </a:rPr>
              <a:t>07</a:t>
            </a:r>
          </a:p>
        </p:txBody>
      </p:sp>
      <p:sp>
        <p:nvSpPr>
          <p:cNvPr id="3" name="question-label">
            <a:extLst>
              <a:ext uri="{FF2B5EF4-FFF2-40B4-BE49-F238E27FC236}">
                <a16:creationId xmlns:a16="http://schemas.microsoft.com/office/drawing/2014/main" id="{64E1DFB5-44DE-4A90-B873-31ED2DD47937}"/>
              </a:ext>
            </a:extLst>
          </p:cNvPr>
          <p:cNvSpPr>
            <a:spLocks noGrp="1"/>
          </p:cNvSpPr>
          <p:nvPr/>
        </p:nvSpPr>
        <p:spPr>
          <a:xfrm>
            <a:off x="685800" y="1543050"/>
            <a:ext cx="10820400" cy="371475"/>
          </a:xfrm>
          <a:prstGeom prst="rect">
            <a:avLst/>
          </a:prstGeom>
          <a:noFill/>
          <a:ln w="0">
            <a:noFill/>
          </a:ln>
        </p:spPr>
        <p:txBody>
          <a:bodyPr wrap="square" lIns="0" tIns="0" rIns="0" bIns="0" anchor="t">
            <a:noAutofit/>
          </a:bodyPr>
          <a:lstStyle>
            <a:defPPr algn="l">
              <a:defRPr sz="1950" b="1">
                <a:solidFill>
                  <a:srgbClr val="126E73"/>
                </a:solidFill>
                <a:latin typeface="DejaVu Sans"/>
                <a:ea typeface="DejaVu Sans"/>
                <a:cs typeface="DejaVu Sans"/>
              </a:defRPr>
            </a:defPPr>
          </a:lstStyle>
          <a:p>
            <a:pPr algn="l">
              <a:defRPr sz="1950" b="1">
                <a:solidFill>
                  <a:srgbClr val="126E73"/>
                </a:solidFill>
                <a:latin typeface="DejaVu Sans"/>
                <a:ea typeface="DejaVu Sans"/>
                <a:cs typeface="DejaVu Sans"/>
              </a:defRPr>
            </a:pPr>
            <a:r>
              <a:rPr sz="1950" b="1">
                <a:solidFill>
                  <a:srgbClr val="126E73"/>
                </a:solidFill>
                <a:latin typeface="DejaVu Sans"/>
                <a:ea typeface="DejaVu Sans"/>
                <a:cs typeface="DejaVu Sans"/>
              </a:rPr>
              <a:t>Research question</a:t>
            </a:r>
          </a:p>
        </p:txBody>
      </p:sp>
      <p:sp>
        <p:nvSpPr>
          <p:cNvPr id="4" name="question">
            <a:extLst>
              <a:ext uri="{FF2B5EF4-FFF2-40B4-BE49-F238E27FC236}">
                <a16:creationId xmlns:a16="http://schemas.microsoft.com/office/drawing/2014/main" id="{ACD30E92-E4F4-4469-838F-28971CD4C49B}"/>
              </a:ext>
            </a:extLst>
          </p:cNvPr>
          <p:cNvSpPr>
            <a:spLocks noGrp="1"/>
          </p:cNvSpPr>
          <p:nvPr/>
        </p:nvSpPr>
        <p:spPr>
          <a:xfrm>
            <a:off x="685800" y="2076450"/>
            <a:ext cx="10820400" cy="1066800"/>
          </a:xfrm>
          <a:prstGeom prst="rect">
            <a:avLst/>
          </a:prstGeom>
          <a:noFill/>
          <a:ln w="0">
            <a:noFill/>
          </a:ln>
        </p:spPr>
        <p:txBody>
          <a:bodyPr wrap="square" lIns="0" tIns="0" rIns="0" bIns="0" anchor="t">
            <a:noAutofit/>
          </a:bodyPr>
          <a:lstStyle>
            <a:defPPr algn="l">
              <a:defRPr sz="2475" b="1">
                <a:solidFill>
                  <a:srgbClr val="102234"/>
                </a:solidFill>
                <a:latin typeface="DejaVu Sans"/>
                <a:ea typeface="DejaVu Sans"/>
                <a:cs typeface="DejaVu Sans"/>
              </a:defRPr>
            </a:defPPr>
          </a:lstStyle>
          <a:p>
            <a:pPr algn="l">
              <a:defRPr sz="2475" b="1">
                <a:solidFill>
                  <a:srgbClr val="102234"/>
                </a:solidFill>
                <a:latin typeface="DejaVu Sans"/>
                <a:ea typeface="DejaVu Sans"/>
                <a:cs typeface="DejaVu Sans"/>
              </a:defRPr>
            </a:pPr>
            <a:r>
              <a:rPr sz="2475" b="1">
                <a:solidFill>
                  <a:srgbClr val="102234"/>
                </a:solidFill>
                <a:latin typeface="DejaVu Sans"/>
                <a:ea typeface="DejaVu Sans"/>
                <a:cs typeface="DejaVu Sans"/>
              </a:rPr>
              <a:t>Can surrogate-assisted design reduce simulation cost</a:t>
            </a:r>
          </a:p>
          <a:p>
            <a:pPr algn="l">
              <a:defRPr sz="2475" b="1">
                <a:solidFill>
                  <a:srgbClr val="102234"/>
                </a:solidFill>
                <a:latin typeface="DejaVu Sans"/>
                <a:ea typeface="DejaVu Sans"/>
                <a:cs typeface="DejaVu Sans"/>
              </a:defRPr>
            </a:pPr>
            <a:r>
              <a:rPr sz="2475" b="1">
                <a:solidFill>
                  <a:srgbClr val="102234"/>
                </a:solidFill>
                <a:latin typeface="DejaVu Sans"/>
                <a:ea typeface="DejaVu Sans"/>
                <a:cs typeface="DejaVu Sans"/>
              </a:rPr>
              <a:t>without hiding thermal or vibration constraint violations?</a:t>
            </a:r>
          </a:p>
        </p:txBody>
      </p:sp>
      <p:sp>
        <p:nvSpPr>
          <p:cNvPr id="5" name="comparison-heading">
            <a:extLst>
              <a:ext uri="{FF2B5EF4-FFF2-40B4-BE49-F238E27FC236}">
                <a16:creationId xmlns:a16="http://schemas.microsoft.com/office/drawing/2014/main" id="{046028A1-3576-4F61-A331-DC143E749EE0}"/>
              </a:ext>
            </a:extLst>
          </p:cNvPr>
          <p:cNvSpPr>
            <a:spLocks noGrp="1"/>
          </p:cNvSpPr>
          <p:nvPr/>
        </p:nvSpPr>
        <p:spPr>
          <a:xfrm>
            <a:off x="685800" y="3457575"/>
            <a:ext cx="5000625" cy="428625"/>
          </a:xfrm>
          <a:prstGeom prst="rect">
            <a:avLst/>
          </a:prstGeom>
          <a:noFill/>
          <a:ln w="0">
            <a:noFill/>
          </a:ln>
        </p:spPr>
        <p:txBody>
          <a:bodyPr wrap="square" lIns="0" tIns="0" rIns="0" bIns="0" anchor="t">
            <a:noAutofit/>
          </a:bodyPr>
          <a:lstStyle>
            <a:defPPr algn="l">
              <a:defRPr sz="2100" b="1">
                <a:solidFill>
                  <a:srgbClr val="126E73"/>
                </a:solidFill>
                <a:latin typeface="DejaVu Sans"/>
                <a:ea typeface="DejaVu Sans"/>
                <a:cs typeface="DejaVu Sans"/>
              </a:defRPr>
            </a:defPPr>
          </a:lstStyle>
          <a:p>
            <a:pPr algn="l">
              <a:defRPr sz="2100" b="1">
                <a:solidFill>
                  <a:srgbClr val="126E73"/>
                </a:solidFill>
                <a:latin typeface="DejaVu Sans"/>
                <a:ea typeface="DejaVu Sans"/>
                <a:cs typeface="DejaVu Sans"/>
              </a:defRPr>
            </a:pPr>
            <a:r>
              <a:rPr sz="2100" b="1">
                <a:solidFill>
                  <a:srgbClr val="126E73"/>
                </a:solidFill>
                <a:latin typeface="DejaVu Sans"/>
                <a:ea typeface="DejaVu Sans"/>
                <a:cs typeface="DejaVu Sans"/>
              </a:rPr>
              <a:t>Comparison</a:t>
            </a:r>
          </a:p>
        </p:txBody>
      </p:sp>
      <p:sp>
        <p:nvSpPr>
          <p:cNvPr id="6" name="comparison">
            <a:extLst>
              <a:ext uri="{FF2B5EF4-FFF2-40B4-BE49-F238E27FC236}">
                <a16:creationId xmlns:a16="http://schemas.microsoft.com/office/drawing/2014/main" id="{85121210-E197-4F4E-B5B7-F9A0F64166E6}"/>
              </a:ext>
            </a:extLst>
          </p:cNvPr>
          <p:cNvSpPr>
            <a:spLocks noGrp="1"/>
          </p:cNvSpPr>
          <p:nvPr/>
        </p:nvSpPr>
        <p:spPr>
          <a:xfrm>
            <a:off x="685800" y="4029075"/>
            <a:ext cx="5000625" cy="1181100"/>
          </a:xfrm>
          <a:prstGeom prst="rect">
            <a:avLst/>
          </a:prstGeom>
          <a:noFill/>
          <a:ln w="0">
            <a:noFill/>
          </a:ln>
        </p:spPr>
        <p:txBody>
          <a:bodyPr wrap="square" lIns="0" tIns="0" rIns="0" bIns="0" anchor="t">
            <a:noAutofit/>
          </a:bodyPr>
          <a:lstStyle>
            <a:defPPr algn="l">
              <a:defRPr sz="1950" b="0">
                <a:solidFill>
                  <a:srgbClr val="172F41"/>
                </a:solidFill>
                <a:latin typeface="DejaVu Sans"/>
                <a:ea typeface="DejaVu Sans"/>
                <a:cs typeface="DejaVu Sans"/>
              </a:defRPr>
            </a:defPPr>
          </a:lstStyle>
          <a:p>
            <a:pPr algn="l">
              <a:defRPr sz="1950" b="0">
                <a:solidFill>
                  <a:srgbClr val="172F41"/>
                </a:solidFill>
                <a:latin typeface="DejaVu Sans"/>
                <a:ea typeface="DejaVu Sans"/>
                <a:cs typeface="DejaVu Sans"/>
              </a:defRPr>
            </a:pPr>
            <a:r>
              <a:rPr sz="1950" b="0">
                <a:solidFill>
                  <a:srgbClr val="172F41"/>
                </a:solidFill>
                <a:latin typeface="DejaVu Sans"/>
                <a:ea typeface="DejaVu Sans"/>
                <a:cs typeface="DejaVu Sans"/>
              </a:rPr>
              <a:t>Simulation-only evaluation</a:t>
            </a:r>
          </a:p>
          <a:p>
            <a:pPr algn="l">
              <a:defRPr sz="1950" b="0">
                <a:solidFill>
                  <a:srgbClr val="172F41"/>
                </a:solidFill>
                <a:latin typeface="DejaVu Sans"/>
                <a:ea typeface="DejaVu Sans"/>
                <a:cs typeface="DejaVu Sans"/>
              </a:defRPr>
            </a:pPr>
            <a:r>
              <a:rPr sz="1950" b="0">
                <a:solidFill>
                  <a:srgbClr val="172F41"/>
                </a:solidFill>
                <a:latin typeface="DejaVu Sans"/>
                <a:ea typeface="DejaVu Sans"/>
                <a:cs typeface="DejaVu Sans"/>
              </a:rPr>
              <a:t>versus surrogate screening</a:t>
            </a:r>
          </a:p>
          <a:p>
            <a:pPr algn="l">
              <a:defRPr sz="1950" b="0">
                <a:solidFill>
                  <a:srgbClr val="172F41"/>
                </a:solidFill>
                <a:latin typeface="DejaVu Sans"/>
                <a:ea typeface="DejaVu Sans"/>
                <a:cs typeface="DejaVu Sans"/>
              </a:defRPr>
            </a:pPr>
            <a:r>
              <a:rPr sz="1950" b="0">
                <a:solidFill>
                  <a:srgbClr val="172F41"/>
                </a:solidFill>
                <a:latin typeface="DejaVu Sans"/>
                <a:ea typeface="DejaVu Sans"/>
                <a:cs typeface="DejaVu Sans"/>
              </a:rPr>
              <a:t>with physics confirmation</a:t>
            </a:r>
          </a:p>
        </p:txBody>
      </p:sp>
      <p:sp>
        <p:nvSpPr>
          <p:cNvPr id="7" name="deliverables-heading">
            <a:extLst>
              <a:ext uri="{FF2B5EF4-FFF2-40B4-BE49-F238E27FC236}">
                <a16:creationId xmlns:a16="http://schemas.microsoft.com/office/drawing/2014/main" id="{5B537A7C-9D43-46A6-BB19-72E58519038F}"/>
              </a:ext>
            </a:extLst>
          </p:cNvPr>
          <p:cNvSpPr>
            <a:spLocks noGrp="1"/>
          </p:cNvSpPr>
          <p:nvPr/>
        </p:nvSpPr>
        <p:spPr>
          <a:xfrm>
            <a:off x="6572250" y="3457575"/>
            <a:ext cx="4933950" cy="428625"/>
          </a:xfrm>
          <a:prstGeom prst="rect">
            <a:avLst/>
          </a:prstGeom>
          <a:noFill/>
          <a:ln w="0">
            <a:noFill/>
          </a:ln>
        </p:spPr>
        <p:txBody>
          <a:bodyPr wrap="square" lIns="0" tIns="0" rIns="0" bIns="0" anchor="t">
            <a:noAutofit/>
          </a:bodyPr>
          <a:lstStyle>
            <a:defPPr algn="l">
              <a:defRPr sz="2100" b="1">
                <a:solidFill>
                  <a:srgbClr val="126E73"/>
                </a:solidFill>
                <a:latin typeface="DejaVu Sans"/>
                <a:ea typeface="DejaVu Sans"/>
                <a:cs typeface="DejaVu Sans"/>
              </a:defRPr>
            </a:defPPr>
          </a:lstStyle>
          <a:p>
            <a:pPr algn="l">
              <a:defRPr sz="2100" b="1">
                <a:solidFill>
                  <a:srgbClr val="126E73"/>
                </a:solidFill>
                <a:latin typeface="DejaVu Sans"/>
                <a:ea typeface="DejaVu Sans"/>
                <a:cs typeface="DejaVu Sans"/>
              </a:defRPr>
            </a:pPr>
            <a:r>
              <a:rPr sz="2100" b="1">
                <a:solidFill>
                  <a:srgbClr val="126E73"/>
                </a:solidFill>
                <a:latin typeface="DejaVu Sans"/>
                <a:ea typeface="DejaVu Sans"/>
                <a:cs typeface="DejaVu Sans"/>
              </a:rPr>
              <a:t>Deliverables</a:t>
            </a:r>
          </a:p>
        </p:txBody>
      </p:sp>
      <p:sp>
        <p:nvSpPr>
          <p:cNvPr id="8" name="deliverables">
            <a:extLst>
              <a:ext uri="{FF2B5EF4-FFF2-40B4-BE49-F238E27FC236}">
                <a16:creationId xmlns:a16="http://schemas.microsoft.com/office/drawing/2014/main" id="{D97B12A3-F425-400B-BA72-FE130C502E69}"/>
              </a:ext>
            </a:extLst>
          </p:cNvPr>
          <p:cNvSpPr>
            <a:spLocks noGrp="1"/>
          </p:cNvSpPr>
          <p:nvPr/>
        </p:nvSpPr>
        <p:spPr>
          <a:xfrm>
            <a:off x="6572250" y="4029075"/>
            <a:ext cx="4933950" cy="1181100"/>
          </a:xfrm>
          <a:prstGeom prst="rect">
            <a:avLst/>
          </a:prstGeom>
          <a:noFill/>
          <a:ln w="0">
            <a:noFill/>
          </a:ln>
        </p:spPr>
        <p:txBody>
          <a:bodyPr wrap="square" lIns="0" tIns="0" rIns="0" bIns="0" anchor="t">
            <a:noAutofit/>
          </a:bodyPr>
          <a:lstStyle>
            <a:defPPr algn="l">
              <a:defRPr sz="1875" b="0">
                <a:solidFill>
                  <a:srgbClr val="172F41"/>
                </a:solidFill>
                <a:latin typeface="DejaVu Sans"/>
                <a:ea typeface="DejaVu Sans"/>
                <a:cs typeface="DejaVu Sans"/>
              </a:defRPr>
            </a:defPPr>
          </a:lstStyle>
          <a:p>
            <a:pPr algn="l">
              <a:defRPr sz="1875" b="0">
                <a:solidFill>
                  <a:srgbClr val="172F41"/>
                </a:solidFill>
                <a:latin typeface="DejaVu Sans"/>
                <a:ea typeface="DejaVu Sans"/>
                <a:cs typeface="DejaVu Sans"/>
              </a:defRPr>
            </a:pPr>
            <a:r>
              <a:rPr sz="1875" b="0">
                <a:solidFill>
                  <a:srgbClr val="172F41"/>
                </a:solidFill>
                <a:latin typeface="DejaVu Sans"/>
                <a:ea typeface="DejaVu Sans"/>
                <a:cs typeface="DejaVu Sans"/>
              </a:rPr>
              <a:t>A traceable system model</a:t>
            </a:r>
          </a:p>
          <a:p>
            <a:pPr algn="l">
              <a:defRPr sz="1875" b="0">
                <a:solidFill>
                  <a:srgbClr val="172F41"/>
                </a:solidFill>
                <a:latin typeface="DejaVu Sans"/>
                <a:ea typeface="DejaVu Sans"/>
                <a:cs typeface="DejaVu Sans"/>
              </a:defRPr>
            </a:pPr>
            <a:r>
              <a:rPr sz="1875" b="0">
                <a:solidFill>
                  <a:srgbClr val="172F41"/>
                </a:solidFill>
                <a:latin typeface="DejaVu Sans"/>
                <a:ea typeface="DejaVu Sans"/>
                <a:cs typeface="DejaVu Sans"/>
              </a:rPr>
              <a:t>A thermal / structural trade study</a:t>
            </a:r>
          </a:p>
          <a:p>
            <a:pPr algn="l">
              <a:defRPr sz="1875" b="0">
                <a:solidFill>
                  <a:srgbClr val="172F41"/>
                </a:solidFill>
                <a:latin typeface="DejaVu Sans"/>
                <a:ea typeface="DejaVu Sans"/>
                <a:cs typeface="DejaVu Sans"/>
              </a:defRPr>
            </a:pPr>
            <a:r>
              <a:rPr sz="1875" b="0">
                <a:solidFill>
                  <a:srgbClr val="172F41"/>
                </a:solidFill>
                <a:latin typeface="DejaVu Sans"/>
                <a:ea typeface="DejaVu Sans"/>
                <a:cs typeface="DejaVu Sans"/>
              </a:rPr>
              <a:t>A held-out workflow comparison</a:t>
            </a:r>
          </a:p>
        </p:txBody>
      </p:sp>
      <p:sp>
        <p:nvSpPr>
          <p:cNvPr id="9" name="evidence-heading">
            <a:extLst>
              <a:ext uri="{FF2B5EF4-FFF2-40B4-BE49-F238E27FC236}">
                <a16:creationId xmlns:a16="http://schemas.microsoft.com/office/drawing/2014/main" id="{68EF364B-3B78-471E-A57C-F60E93D3605A}"/>
              </a:ext>
            </a:extLst>
          </p:cNvPr>
          <p:cNvSpPr>
            <a:spLocks noGrp="1"/>
          </p:cNvSpPr>
          <p:nvPr/>
        </p:nvSpPr>
        <p:spPr>
          <a:xfrm>
            <a:off x="685800" y="5381625"/>
            <a:ext cx="10820400" cy="371475"/>
          </a:xfrm>
          <a:prstGeom prst="rect">
            <a:avLst/>
          </a:prstGeom>
          <a:noFill/>
          <a:ln w="0">
            <a:noFill/>
          </a:ln>
        </p:spPr>
        <p:txBody>
          <a:bodyPr wrap="square" lIns="0" tIns="0" rIns="0" bIns="0" anchor="t">
            <a:noAutofit/>
          </a:bodyPr>
          <a:lstStyle>
            <a:defPPr algn="l">
              <a:defRPr sz="1950" b="1">
                <a:solidFill>
                  <a:srgbClr val="102234"/>
                </a:solidFill>
                <a:latin typeface="DejaVu Sans"/>
                <a:ea typeface="DejaVu Sans"/>
                <a:cs typeface="DejaVu Sans"/>
              </a:defRPr>
            </a:defPPr>
          </a:lstStyle>
          <a:p>
            <a:pPr algn="l">
              <a:defRPr sz="1950" b="1">
                <a:solidFill>
                  <a:srgbClr val="102234"/>
                </a:solidFill>
                <a:latin typeface="DejaVu Sans"/>
                <a:ea typeface="DejaVu Sans"/>
                <a:cs typeface="DejaVu Sans"/>
              </a:defRPr>
            </a:pPr>
            <a:r>
              <a:rPr sz="1950" b="1">
                <a:solidFill>
                  <a:srgbClr val="102234"/>
                </a:solidFill>
                <a:latin typeface="DejaVu Sans"/>
                <a:ea typeface="DejaVu Sans"/>
                <a:cs typeface="DejaVu Sans"/>
              </a:rPr>
              <a:t>Evidence to report</a:t>
            </a:r>
          </a:p>
        </p:txBody>
      </p:sp>
      <p:sp>
        <p:nvSpPr>
          <p:cNvPr id="10" name="evidence">
            <a:extLst>
              <a:ext uri="{FF2B5EF4-FFF2-40B4-BE49-F238E27FC236}">
                <a16:creationId xmlns:a16="http://schemas.microsoft.com/office/drawing/2014/main" id="{59471930-8C49-4873-A550-5DCF9BF7ED7E}"/>
              </a:ext>
            </a:extLst>
          </p:cNvPr>
          <p:cNvSpPr>
            <a:spLocks noGrp="1"/>
          </p:cNvSpPr>
          <p:nvPr/>
        </p:nvSpPr>
        <p:spPr>
          <a:xfrm>
            <a:off x="685800" y="5819775"/>
            <a:ext cx="10820400" cy="342900"/>
          </a:xfrm>
          <a:prstGeom prst="rect">
            <a:avLst/>
          </a:prstGeom>
          <a:noFill/>
          <a:ln w="0">
            <a:noFill/>
          </a:ln>
        </p:spPr>
        <p:txBody>
          <a:bodyPr wrap="square" lIns="0" tIns="0" rIns="0" bIns="0" anchor="t">
            <a:noAutofit/>
          </a:bodyPr>
          <a:lstStyle>
            <a:defPPr algn="l">
              <a:defRPr sz="1725" b="0">
                <a:solidFill>
                  <a:srgbClr val="172F41"/>
                </a:solidFill>
                <a:latin typeface="DejaVu Sans"/>
                <a:ea typeface="DejaVu Sans"/>
                <a:cs typeface="DejaVu Sans"/>
              </a:defRPr>
            </a:defPPr>
          </a:lstStyle>
          <a:p>
            <a:pPr algn="l">
              <a:defRPr sz="1725" b="0">
                <a:solidFill>
                  <a:srgbClr val="172F41"/>
                </a:solidFill>
                <a:latin typeface="DejaVu Sans"/>
                <a:ea typeface="DejaVu Sans"/>
                <a:cs typeface="DejaVu Sans"/>
              </a:defRPr>
            </a:pPr>
            <a:r>
              <a:rPr sz="1725" b="0">
                <a:solidFill>
                  <a:srgbClr val="172F41"/>
                </a:solidFill>
                <a:latin typeface="DejaVu Sans"/>
                <a:ea typeface="DejaVu Sans"/>
                <a:cs typeface="DejaVu Sans"/>
              </a:rPr>
              <a:t>Prediction error, expensive simulation calls, wall time, and constraint violations</a:t>
            </a:r>
          </a:p>
        </p:txBody>
      </p:sp>
      <p:sp>
        <p:nvSpPr>
          <p:cNvPr id="11" name="source-footnote">
            <a:extLst>
              <a:ext uri="{FF2B5EF4-FFF2-40B4-BE49-F238E27FC236}">
                <a16:creationId xmlns:a16="http://schemas.microsoft.com/office/drawing/2014/main" id="{3C40822A-D273-4E32-8B3B-3B68A51BE00E}"/>
              </a:ext>
            </a:extLst>
          </p:cNvPr>
          <p:cNvSpPr>
            <a:spLocks noGrp="1"/>
          </p:cNvSpPr>
          <p:nvPr/>
        </p:nvSpPr>
        <p:spPr>
          <a:xfrm>
            <a:off x="685800" y="6210300"/>
            <a:ext cx="10077450" cy="304800"/>
          </a:xfrm>
          <a:prstGeom prst="rect">
            <a:avLst/>
          </a:prstGeom>
          <a:noFill/>
          <a:ln w="0">
            <a:noFill/>
          </a:ln>
        </p:spPr>
        <p:txBody>
          <a:bodyPr wrap="square" lIns="0" tIns="0" rIns="0" bIns="0" anchor="t">
            <a:noAutofit/>
          </a:bodyPr>
          <a:lstStyle>
            <a:defPPr algn="l">
              <a:defRPr sz="1200" b="0">
                <a:solidFill>
                  <a:srgbClr val="5A6B76"/>
                </a:solidFill>
                <a:latin typeface="DejaVu Sans"/>
                <a:ea typeface="DejaVu Sans"/>
                <a:cs typeface="DejaVu Sans"/>
              </a:defRPr>
            </a:defPPr>
          </a:lstStyle>
          <a:p>
            <a:pPr algn="l">
              <a:defRPr sz="1200" b="0">
                <a:solidFill>
                  <a:srgbClr val="5A6B76"/>
                </a:solidFill>
                <a:latin typeface="DejaVu Sans"/>
                <a:ea typeface="DejaVu Sans"/>
                <a:cs typeface="DejaVu Sans"/>
              </a:defRPr>
            </a:pPr>
            <a:r>
              <a:rPr sz="1200" b="0">
                <a:solidFill>
                  <a:srgbClr val="5A6B76"/>
                </a:solidFill>
                <a:latin typeface="DejaVu Sans"/>
                <a:ea typeface="DejaVu Sans"/>
                <a:cs typeface="DejaVu Sans"/>
              </a:rPr>
              <a:t>Proposed study: one monitoring station and one sensor mount family. No measured results yet.</a:t>
            </a:r>
          </a:p>
        </p:txBody>
      </p:sp>
    </p:spTree>
    <p:extLst>
      <p:ext uri="{BB962C8B-B14F-4D97-AF65-F5344CB8AC3E}">
        <p14:creationId xmlns:p14="http://schemas.microsoft.com/office/powerpoint/2010/main" val="1142387447"/>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2010</Words>
  <Application>Microsoft Office PowerPoint</Application>
  <DocSecurity>0</DocSecurity>
  <PresentationFormat>Widescreen</PresentationFormat>
  <Paragraphs>157</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Aptos</vt:lpstr>
      <vt:lpstr>DejaVu Sans</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Blaine Swieder</cp:lastModifiedBy>
  <cp:revision>1</cp:revision>
  <dcterms:created xsi:type="dcterms:W3CDTF">2026-10-12T01:11:39Z</dcterms:created>
  <dcterms:modified xsi:type="dcterms:W3CDTF">2026-10-12T19:51:42Z</dcterms:modified>
</cp:coreProperties>
</file>